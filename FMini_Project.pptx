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Default Extension="svg" ContentType="image/svg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7" r:id="rId2"/>
    <p:sldId id="259" r:id="rId3"/>
    <p:sldId id="260" r:id="rId4"/>
    <p:sldId id="261" r:id="rId5"/>
    <p:sldId id="270" r:id="rId6"/>
    <p:sldId id="262" r:id="rId7"/>
    <p:sldId id="269" r:id="rId8"/>
    <p:sldId id="263" r:id="rId9"/>
    <p:sldId id="264" r:id="rId10"/>
    <p:sldId id="272" r:id="rId11"/>
    <p:sldId id="266" r:id="rId12"/>
    <p:sldId id="267" r:id="rId13"/>
    <p:sldId id="268" r:id="rId14"/>
    <p:sldId id="273" r:id="rId15"/>
    <p:sldId id="289" r:id="rId16"/>
    <p:sldId id="290" r:id="rId17"/>
    <p:sldId id="293" r:id="rId18"/>
    <p:sldId id="294" r:id="rId19"/>
    <p:sldId id="288" r:id="rId20"/>
    <p:sldId id="292" r:id="rId21"/>
    <p:sldId id="271" r:id="rId22"/>
    <p:sldId id="295" r:id="rId23"/>
    <p:sldId id="296" r:id="rId24"/>
    <p:sldId id="297" r:id="rId25"/>
    <p:sldId id="298" r:id="rId26"/>
    <p:sldId id="300" r:id="rId27"/>
    <p:sldId id="301" r:id="rId28"/>
    <p:sldId id="302" r:id="rId29"/>
    <p:sldId id="303" r:id="rId30"/>
    <p:sldId id="304" r:id="rId31"/>
  </p:sldIdLst>
  <p:sldSz cx="9144000" cy="5143500" type="screen16x9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368" autoAdjust="0"/>
    <p:restoredTop sz="94660" autoAdjust="0"/>
  </p:normalViewPr>
  <p:slideViewPr>
    <p:cSldViewPr>
      <p:cViewPr varScale="1">
        <p:scale>
          <a:sx n="110" d="100"/>
          <a:sy n="110" d="100"/>
        </p:scale>
        <p:origin x="-86" y="-17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5" y="2032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svg"/><Relationship Id="rId1" Type="http://schemas.openxmlformats.org/officeDocument/2006/relationships/image" Target="../media/image2.png"/><Relationship Id="rId6" Type="http://schemas.openxmlformats.org/officeDocument/2006/relationships/image" Target="../media/image21.svg"/><Relationship Id="rId5" Type="http://schemas.openxmlformats.org/officeDocument/2006/relationships/image" Target="../media/image4.png"/><Relationship Id="rId4" Type="http://schemas.openxmlformats.org/officeDocument/2006/relationships/image" Target="../media/image1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3.svg"/><Relationship Id="rId1" Type="http://schemas.openxmlformats.org/officeDocument/2006/relationships/image" Target="../media/image5.png"/><Relationship Id="rId6" Type="http://schemas.openxmlformats.org/officeDocument/2006/relationships/image" Target="../media/image27.svg"/><Relationship Id="rId5" Type="http://schemas.openxmlformats.org/officeDocument/2006/relationships/image" Target="../media/image7.pn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7.svg"/><Relationship Id="rId6" Type="http://schemas.openxmlformats.org/officeDocument/2006/relationships/image" Target="../media/image21.svg"/><Relationship Id="rId1" Type="http://schemas.openxmlformats.org/officeDocument/2006/relationships/image" Target="../media/image161.png"/><Relationship Id="rId5" Type="http://schemas.openxmlformats.org/officeDocument/2006/relationships/image" Target="../media/image201.png"/><Relationship Id="rId4" Type="http://schemas.openxmlformats.org/officeDocument/2006/relationships/image" Target="../media/image1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6" Type="http://schemas.openxmlformats.org/officeDocument/2006/relationships/image" Target="../media/image27.svg"/><Relationship Id="rId1" Type="http://schemas.openxmlformats.org/officeDocument/2006/relationships/image" Target="../media/image22.pn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983ACC-F526-4BBB-95E5-50AE07BC3AFD}" type="doc">
      <dgm:prSet loTypeId="urn:microsoft.com/office/officeart/2018/5/layout/IconLeafLabelList" loCatId="icon" qsTypeId="urn:microsoft.com/office/officeart/2005/8/quickstyle/simple1#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0D1BC9C-BDB2-4869-ADA5-898524D69E3B}">
      <dgm:prSet/>
      <dgm:spPr/>
      <dgm:t>
        <a:bodyPr/>
        <a:lstStyle/>
        <a:p>
          <a:r>
            <a:rPr lang="en-US" dirty="0"/>
            <a:t>BACK END: PYTHON</a:t>
          </a:r>
        </a:p>
      </dgm:t>
    </dgm:pt>
    <dgm:pt modelId="{436DBA8A-7631-4F7E-B8AD-ABC27F602DFF}" type="parTrans" cxnId="{89156B5D-ADF6-48AD-A470-BFE00E2C0CFF}">
      <dgm:prSet/>
      <dgm:spPr/>
      <dgm:t>
        <a:bodyPr/>
        <a:lstStyle/>
        <a:p>
          <a:endParaRPr lang="en-US"/>
        </a:p>
      </dgm:t>
    </dgm:pt>
    <dgm:pt modelId="{5D32C3D1-F691-480E-B656-091E1A490C31}" type="sibTrans" cxnId="{89156B5D-ADF6-48AD-A470-BFE00E2C0CFF}">
      <dgm:prSet/>
      <dgm:spPr/>
      <dgm:t>
        <a:bodyPr/>
        <a:lstStyle/>
        <a:p>
          <a:endParaRPr lang="en-US"/>
        </a:p>
      </dgm:t>
    </dgm:pt>
    <dgm:pt modelId="{13DB6F77-66DD-4A7B-A7AD-BE6352E232A0}">
      <dgm:prSet/>
      <dgm:spPr/>
      <dgm:t>
        <a:bodyPr/>
        <a:lstStyle/>
        <a:p>
          <a:r>
            <a:rPr lang="en-US" dirty="0"/>
            <a:t>OPERATING </a:t>
          </a:r>
          <a:r>
            <a:rPr lang="en-US" dirty="0" smtClean="0"/>
            <a:t>SYSTEM:</a:t>
          </a:r>
          <a:r>
            <a:rPr lang="en-US" dirty="0"/>
            <a:t>  </a:t>
          </a:r>
          <a:endParaRPr lang="en-US" dirty="0" smtClean="0"/>
        </a:p>
        <a:p>
          <a:r>
            <a:rPr lang="en-US" dirty="0" smtClean="0"/>
            <a:t>WINDOWS  </a:t>
          </a:r>
          <a:r>
            <a:rPr lang="en-US" dirty="0"/>
            <a:t>7</a:t>
          </a:r>
        </a:p>
      </dgm:t>
    </dgm:pt>
    <dgm:pt modelId="{4E6943D7-9271-422A-936F-E3BC9B0536AC}" type="parTrans" cxnId="{D2C99AF3-45B0-4069-8398-F0670DE848B0}">
      <dgm:prSet/>
      <dgm:spPr/>
      <dgm:t>
        <a:bodyPr/>
        <a:lstStyle/>
        <a:p>
          <a:endParaRPr lang="en-US"/>
        </a:p>
      </dgm:t>
    </dgm:pt>
    <dgm:pt modelId="{BB865A6F-2588-4214-90D8-131EAB2DA50C}" type="sibTrans" cxnId="{D2C99AF3-45B0-4069-8398-F0670DE848B0}">
      <dgm:prSet/>
      <dgm:spPr/>
      <dgm:t>
        <a:bodyPr/>
        <a:lstStyle/>
        <a:p>
          <a:endParaRPr lang="en-US"/>
        </a:p>
      </dgm:t>
    </dgm:pt>
    <dgm:pt modelId="{D2663C4D-8A15-4FDB-BE50-D97E52C10A4D}">
      <dgm:prSet/>
      <dgm:spPr/>
      <dgm:t>
        <a:bodyPr/>
        <a:lstStyle/>
        <a:p>
          <a:r>
            <a:rPr lang="en-US" dirty="0"/>
            <a:t>IDE</a:t>
          </a:r>
          <a:r>
            <a:rPr lang="en-US" dirty="0" smtClean="0"/>
            <a:t>: Spider3</a:t>
          </a:r>
          <a:endParaRPr lang="en-US" dirty="0"/>
        </a:p>
      </dgm:t>
    </dgm:pt>
    <dgm:pt modelId="{AA15C432-D17E-49A4-A566-26B3E8B191EC}" type="parTrans" cxnId="{6D974EA4-36DC-442A-8CB2-0BC9BA77F631}">
      <dgm:prSet/>
      <dgm:spPr/>
      <dgm:t>
        <a:bodyPr/>
        <a:lstStyle/>
        <a:p>
          <a:endParaRPr lang="en-US"/>
        </a:p>
      </dgm:t>
    </dgm:pt>
    <dgm:pt modelId="{35CBD495-6FE8-41B3-895C-529257A8B4A0}" type="sibTrans" cxnId="{6D974EA4-36DC-442A-8CB2-0BC9BA77F631}">
      <dgm:prSet/>
      <dgm:spPr/>
      <dgm:t>
        <a:bodyPr/>
        <a:lstStyle/>
        <a:p>
          <a:endParaRPr lang="en-US"/>
        </a:p>
      </dgm:t>
    </dgm:pt>
    <dgm:pt modelId="{A72DD04A-DC05-40D9-9B0E-B1D9A81D2D1A}" type="pres">
      <dgm:prSet presAssocID="{67983ACC-F526-4BBB-95E5-50AE07BC3AFD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B1E80ED-B5B9-48D2-9486-C020D8B78F51}" type="pres">
      <dgm:prSet presAssocID="{40D1BC9C-BDB2-4869-ADA5-898524D69E3B}" presName="compNode" presStyleCnt="0"/>
      <dgm:spPr/>
    </dgm:pt>
    <dgm:pt modelId="{BC9CFD48-D278-4904-9093-D561596E7E7E}" type="pres">
      <dgm:prSet presAssocID="{40D1BC9C-BDB2-4869-ADA5-898524D69E3B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B685855-B49A-4D8A-B609-19910342D0A2}" type="pres">
      <dgm:prSet presAssocID="{40D1BC9C-BDB2-4869-ADA5-898524D69E3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</dgm:pt>
    <dgm:pt modelId="{41F56CB9-F3C3-4768-BF34-C80F8E86C88C}" type="pres">
      <dgm:prSet presAssocID="{40D1BC9C-BDB2-4869-ADA5-898524D69E3B}" presName="spaceRect" presStyleCnt="0"/>
      <dgm:spPr/>
    </dgm:pt>
    <dgm:pt modelId="{7C1E7789-71B5-47E2-BB3D-5F5C821BEAD7}" type="pres">
      <dgm:prSet presAssocID="{40D1BC9C-BDB2-4869-ADA5-898524D69E3B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D8C3CE9B-B76B-4D7F-9562-79EB5C73DCC1}" type="pres">
      <dgm:prSet presAssocID="{5D32C3D1-F691-480E-B656-091E1A490C31}" presName="sibTrans" presStyleCnt="0"/>
      <dgm:spPr/>
    </dgm:pt>
    <dgm:pt modelId="{32084CC9-5815-4FE6-A9AB-AFC932C60EED}" type="pres">
      <dgm:prSet presAssocID="{13DB6F77-66DD-4A7B-A7AD-BE6352E232A0}" presName="compNode" presStyleCnt="0"/>
      <dgm:spPr/>
    </dgm:pt>
    <dgm:pt modelId="{DB6E6FE4-F5B4-4EBF-90DE-B26DE0A6F9DD}" type="pres">
      <dgm:prSet presAssocID="{13DB6F77-66DD-4A7B-A7AD-BE6352E232A0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880CD30-01B0-4050-B2DE-1AAC74D74C13}" type="pres">
      <dgm:prSet presAssocID="{13DB6F77-66DD-4A7B-A7AD-BE6352E232A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</dgm:pt>
    <dgm:pt modelId="{D1C8CA42-4AB9-40C3-9522-F12B7589D4EE}" type="pres">
      <dgm:prSet presAssocID="{13DB6F77-66DD-4A7B-A7AD-BE6352E232A0}" presName="spaceRect" presStyleCnt="0"/>
      <dgm:spPr/>
    </dgm:pt>
    <dgm:pt modelId="{14FB9B71-1EFF-43B9-9C4E-E8A1FDC1EDD2}" type="pres">
      <dgm:prSet presAssocID="{13DB6F77-66DD-4A7B-A7AD-BE6352E232A0}" presName="textRect" presStyleLbl="revTx" presStyleIdx="1" presStyleCnt="3" custScaleX="116463" custLinFactNeighborX="5457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B2CC48C4-493F-4EC8-BB8A-59FF7CC57FF0}" type="pres">
      <dgm:prSet presAssocID="{BB865A6F-2588-4214-90D8-131EAB2DA50C}" presName="sibTrans" presStyleCnt="0"/>
      <dgm:spPr/>
    </dgm:pt>
    <dgm:pt modelId="{D4BA5D05-7D83-4D42-B058-D045CFCF7EA7}" type="pres">
      <dgm:prSet presAssocID="{D2663C4D-8A15-4FDB-BE50-D97E52C10A4D}" presName="compNode" presStyleCnt="0"/>
      <dgm:spPr/>
    </dgm:pt>
    <dgm:pt modelId="{01602BBC-258C-446F-AA16-488BD0B406A7}" type="pres">
      <dgm:prSet presAssocID="{D2663C4D-8A15-4FDB-BE50-D97E52C10A4D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19056A0-094C-4C5A-8518-A861E0291DF6}" type="pres">
      <dgm:prSet presAssocID="{D2663C4D-8A15-4FDB-BE50-D97E52C10A4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</dgm:pt>
    <dgm:pt modelId="{47B22D9F-E2D7-4EB2-A97C-5F93A2E4AAD4}" type="pres">
      <dgm:prSet presAssocID="{D2663C4D-8A15-4FDB-BE50-D97E52C10A4D}" presName="spaceRect" presStyleCnt="0"/>
      <dgm:spPr/>
    </dgm:pt>
    <dgm:pt modelId="{E06FACDB-1ADC-415E-89CC-417B0167F934}" type="pres">
      <dgm:prSet presAssocID="{D2663C4D-8A15-4FDB-BE50-D97E52C10A4D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C118BA3-5B52-4A8C-9D31-25A015E70F63}" type="presOf" srcId="{40D1BC9C-BDB2-4869-ADA5-898524D69E3B}" destId="{7C1E7789-71B5-47E2-BB3D-5F5C821BEAD7}" srcOrd="0" destOrd="0" presId="urn:microsoft.com/office/officeart/2018/5/layout/IconLeafLabelList"/>
    <dgm:cxn modelId="{89156B5D-ADF6-48AD-A470-BFE00E2C0CFF}" srcId="{67983ACC-F526-4BBB-95E5-50AE07BC3AFD}" destId="{40D1BC9C-BDB2-4869-ADA5-898524D69E3B}" srcOrd="0" destOrd="0" parTransId="{436DBA8A-7631-4F7E-B8AD-ABC27F602DFF}" sibTransId="{5D32C3D1-F691-480E-B656-091E1A490C31}"/>
    <dgm:cxn modelId="{E777B8DA-6436-477B-9DFB-1CA6266B0C62}" type="presOf" srcId="{D2663C4D-8A15-4FDB-BE50-D97E52C10A4D}" destId="{E06FACDB-1ADC-415E-89CC-417B0167F934}" srcOrd="0" destOrd="0" presId="urn:microsoft.com/office/officeart/2018/5/layout/IconLeafLabelList"/>
    <dgm:cxn modelId="{D2C99AF3-45B0-4069-8398-F0670DE848B0}" srcId="{67983ACC-F526-4BBB-95E5-50AE07BC3AFD}" destId="{13DB6F77-66DD-4A7B-A7AD-BE6352E232A0}" srcOrd="1" destOrd="0" parTransId="{4E6943D7-9271-422A-936F-E3BC9B0536AC}" sibTransId="{BB865A6F-2588-4214-90D8-131EAB2DA50C}"/>
    <dgm:cxn modelId="{E46992A7-95B0-4A19-A0D6-D69E944E14B4}" type="presOf" srcId="{13DB6F77-66DD-4A7B-A7AD-BE6352E232A0}" destId="{14FB9B71-1EFF-43B9-9C4E-E8A1FDC1EDD2}" srcOrd="0" destOrd="0" presId="urn:microsoft.com/office/officeart/2018/5/layout/IconLeafLabelList"/>
    <dgm:cxn modelId="{132DBC47-16AD-483B-8E06-7096B9BC7953}" type="presOf" srcId="{67983ACC-F526-4BBB-95E5-50AE07BC3AFD}" destId="{A72DD04A-DC05-40D9-9B0E-B1D9A81D2D1A}" srcOrd="0" destOrd="0" presId="urn:microsoft.com/office/officeart/2018/5/layout/IconLeafLabelList"/>
    <dgm:cxn modelId="{6D974EA4-36DC-442A-8CB2-0BC9BA77F631}" srcId="{67983ACC-F526-4BBB-95E5-50AE07BC3AFD}" destId="{D2663C4D-8A15-4FDB-BE50-D97E52C10A4D}" srcOrd="2" destOrd="0" parTransId="{AA15C432-D17E-49A4-A566-26B3E8B191EC}" sibTransId="{35CBD495-6FE8-41B3-895C-529257A8B4A0}"/>
    <dgm:cxn modelId="{D93D18AC-5CB4-49CE-8359-57EAD49B184C}" type="presParOf" srcId="{A72DD04A-DC05-40D9-9B0E-B1D9A81D2D1A}" destId="{5B1E80ED-B5B9-48D2-9486-C020D8B78F51}" srcOrd="0" destOrd="0" presId="urn:microsoft.com/office/officeart/2018/5/layout/IconLeafLabelList"/>
    <dgm:cxn modelId="{72EA46D8-2557-447B-B416-506BFD246F4F}" type="presParOf" srcId="{5B1E80ED-B5B9-48D2-9486-C020D8B78F51}" destId="{BC9CFD48-D278-4904-9093-D561596E7E7E}" srcOrd="0" destOrd="0" presId="urn:microsoft.com/office/officeart/2018/5/layout/IconLeafLabelList"/>
    <dgm:cxn modelId="{A1BBFA98-763D-46AD-B08E-ABFAC7070A44}" type="presParOf" srcId="{5B1E80ED-B5B9-48D2-9486-C020D8B78F51}" destId="{1B685855-B49A-4D8A-B609-19910342D0A2}" srcOrd="1" destOrd="0" presId="urn:microsoft.com/office/officeart/2018/5/layout/IconLeafLabelList"/>
    <dgm:cxn modelId="{D86F186F-0982-411F-AC3C-4577F69FA7C3}" type="presParOf" srcId="{5B1E80ED-B5B9-48D2-9486-C020D8B78F51}" destId="{41F56CB9-F3C3-4768-BF34-C80F8E86C88C}" srcOrd="2" destOrd="0" presId="urn:microsoft.com/office/officeart/2018/5/layout/IconLeafLabelList"/>
    <dgm:cxn modelId="{055E2886-0F56-451E-B770-B4C78C9E81F1}" type="presParOf" srcId="{5B1E80ED-B5B9-48D2-9486-C020D8B78F51}" destId="{7C1E7789-71B5-47E2-BB3D-5F5C821BEAD7}" srcOrd="3" destOrd="0" presId="urn:microsoft.com/office/officeart/2018/5/layout/IconLeafLabelList"/>
    <dgm:cxn modelId="{B153A2CB-7B97-40DA-8161-BA7D78E6209E}" type="presParOf" srcId="{A72DD04A-DC05-40D9-9B0E-B1D9A81D2D1A}" destId="{D8C3CE9B-B76B-4D7F-9562-79EB5C73DCC1}" srcOrd="1" destOrd="0" presId="urn:microsoft.com/office/officeart/2018/5/layout/IconLeafLabelList"/>
    <dgm:cxn modelId="{E5564A44-3F31-4361-BA7D-859642B9258F}" type="presParOf" srcId="{A72DD04A-DC05-40D9-9B0E-B1D9A81D2D1A}" destId="{32084CC9-5815-4FE6-A9AB-AFC932C60EED}" srcOrd="2" destOrd="0" presId="urn:microsoft.com/office/officeart/2018/5/layout/IconLeafLabelList"/>
    <dgm:cxn modelId="{1D5A4EB9-6C5D-4F1E-8034-19E482BB5A1C}" type="presParOf" srcId="{32084CC9-5815-4FE6-A9AB-AFC932C60EED}" destId="{DB6E6FE4-F5B4-4EBF-90DE-B26DE0A6F9DD}" srcOrd="0" destOrd="0" presId="urn:microsoft.com/office/officeart/2018/5/layout/IconLeafLabelList"/>
    <dgm:cxn modelId="{C58DE64B-EB1D-4CB8-92B7-D673B4608DEC}" type="presParOf" srcId="{32084CC9-5815-4FE6-A9AB-AFC932C60EED}" destId="{D880CD30-01B0-4050-B2DE-1AAC74D74C13}" srcOrd="1" destOrd="0" presId="urn:microsoft.com/office/officeart/2018/5/layout/IconLeafLabelList"/>
    <dgm:cxn modelId="{8CE6301F-968B-4F31-9D6D-B2134856040B}" type="presParOf" srcId="{32084CC9-5815-4FE6-A9AB-AFC932C60EED}" destId="{D1C8CA42-4AB9-40C3-9522-F12B7589D4EE}" srcOrd="2" destOrd="0" presId="urn:microsoft.com/office/officeart/2018/5/layout/IconLeafLabelList"/>
    <dgm:cxn modelId="{8CEFA7DA-0B62-4F6D-B9CD-F06A61C20350}" type="presParOf" srcId="{32084CC9-5815-4FE6-A9AB-AFC932C60EED}" destId="{14FB9B71-1EFF-43B9-9C4E-E8A1FDC1EDD2}" srcOrd="3" destOrd="0" presId="urn:microsoft.com/office/officeart/2018/5/layout/IconLeafLabelList"/>
    <dgm:cxn modelId="{FFACDCC3-25E4-4614-97C3-0D2654E1EFB5}" type="presParOf" srcId="{A72DD04A-DC05-40D9-9B0E-B1D9A81D2D1A}" destId="{B2CC48C4-493F-4EC8-BB8A-59FF7CC57FF0}" srcOrd="3" destOrd="0" presId="urn:microsoft.com/office/officeart/2018/5/layout/IconLeafLabelList"/>
    <dgm:cxn modelId="{5C22C422-CC5C-4ABF-8D75-558785FC4222}" type="presParOf" srcId="{A72DD04A-DC05-40D9-9B0E-B1D9A81D2D1A}" destId="{D4BA5D05-7D83-4D42-B058-D045CFCF7EA7}" srcOrd="4" destOrd="0" presId="urn:microsoft.com/office/officeart/2018/5/layout/IconLeafLabelList"/>
    <dgm:cxn modelId="{E5FB2149-D949-4FA3-A5D1-57880E2D1C5B}" type="presParOf" srcId="{D4BA5D05-7D83-4D42-B058-D045CFCF7EA7}" destId="{01602BBC-258C-446F-AA16-488BD0B406A7}" srcOrd="0" destOrd="0" presId="urn:microsoft.com/office/officeart/2018/5/layout/IconLeafLabelList"/>
    <dgm:cxn modelId="{3C1D1AB0-7EC3-45EE-A55F-F51F9FB7F368}" type="presParOf" srcId="{D4BA5D05-7D83-4D42-B058-D045CFCF7EA7}" destId="{419056A0-094C-4C5A-8518-A861E0291DF6}" srcOrd="1" destOrd="0" presId="urn:microsoft.com/office/officeart/2018/5/layout/IconLeafLabelList"/>
    <dgm:cxn modelId="{660B0CAC-E005-42AD-A47A-E028C1442165}" type="presParOf" srcId="{D4BA5D05-7D83-4D42-B058-D045CFCF7EA7}" destId="{47B22D9F-E2D7-4EB2-A97C-5F93A2E4AAD4}" srcOrd="2" destOrd="0" presId="urn:microsoft.com/office/officeart/2018/5/layout/IconLeafLabelList"/>
    <dgm:cxn modelId="{184E4C2B-235E-4EA5-8F2B-D376A8AE2566}" type="presParOf" srcId="{D4BA5D05-7D83-4D42-B058-D045CFCF7EA7}" destId="{E06FACDB-1ADC-415E-89CC-417B0167F93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xmlns="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74C50E-8A19-43BA-B4DC-E6338ED3F987}" type="doc">
      <dgm:prSet loTypeId="urn:microsoft.com/office/officeart/2018/2/layout/IconVerticalSolidList" loCatId="icon" qsTypeId="urn:microsoft.com/office/officeart/2005/8/quickstyle/simple1#2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50D000F-84EC-4D55-B8D4-49C84B723890}">
      <dgm:prSet custT="1"/>
      <dgm:spPr/>
      <dgm:t>
        <a:bodyPr/>
        <a:lstStyle/>
        <a:p>
          <a:r>
            <a:rPr lang="en-US" sz="2500" dirty="0"/>
            <a:t>PROCESSOR:</a:t>
          </a:r>
          <a:r>
            <a:rPr lang="en-US" sz="2400" dirty="0"/>
            <a:t> </a:t>
          </a:r>
          <a:r>
            <a:rPr lang="en-US" sz="2400" dirty="0" smtClean="0"/>
            <a:t>Pentium </a:t>
          </a:r>
          <a:r>
            <a:rPr lang="en-US" sz="2400" dirty="0" smtClean="0"/>
            <a:t>i3 Processor</a:t>
          </a:r>
          <a:endParaRPr lang="en-US" sz="2200" dirty="0"/>
        </a:p>
      </dgm:t>
    </dgm:pt>
    <dgm:pt modelId="{796C32FA-B0D4-4B1C-85DD-F3B0EAE909CC}" type="parTrans" cxnId="{AB7F3FD2-27C9-4AE8-9201-A93573BDC8AC}">
      <dgm:prSet/>
      <dgm:spPr/>
      <dgm:t>
        <a:bodyPr/>
        <a:lstStyle/>
        <a:p>
          <a:endParaRPr lang="en-US"/>
        </a:p>
      </dgm:t>
    </dgm:pt>
    <dgm:pt modelId="{F0EAD9E4-980F-4008-B4DB-DCE43D6A069D}" type="sibTrans" cxnId="{AB7F3FD2-27C9-4AE8-9201-A93573BDC8AC}">
      <dgm:prSet/>
      <dgm:spPr/>
      <dgm:t>
        <a:bodyPr/>
        <a:lstStyle/>
        <a:p>
          <a:endParaRPr lang="en-US"/>
        </a:p>
      </dgm:t>
    </dgm:pt>
    <dgm:pt modelId="{B9529048-2D53-4BCD-A25E-BA15C7B08F8C}">
      <dgm:prSet/>
      <dgm:spPr/>
      <dgm:t>
        <a:bodyPr/>
        <a:lstStyle/>
        <a:p>
          <a:r>
            <a:rPr lang="en-US" dirty="0"/>
            <a:t>RAM</a:t>
          </a:r>
          <a:r>
            <a:rPr lang="en-US" dirty="0" smtClean="0"/>
            <a:t>: 2GB </a:t>
          </a:r>
          <a:r>
            <a:rPr lang="en-US" dirty="0"/>
            <a:t>DD RAM</a:t>
          </a:r>
        </a:p>
      </dgm:t>
    </dgm:pt>
    <dgm:pt modelId="{36F7C6B0-0001-4D65-80EA-CE511B9B6B0F}" type="parTrans" cxnId="{C6EEDC41-10F7-4773-90C1-FD9E9AB3A01C}">
      <dgm:prSet/>
      <dgm:spPr/>
      <dgm:t>
        <a:bodyPr/>
        <a:lstStyle/>
        <a:p>
          <a:endParaRPr lang="en-US"/>
        </a:p>
      </dgm:t>
    </dgm:pt>
    <dgm:pt modelId="{6C6EBCF9-B634-4650-9B7A-9A0042E1D627}" type="sibTrans" cxnId="{C6EEDC41-10F7-4773-90C1-FD9E9AB3A01C}">
      <dgm:prSet/>
      <dgm:spPr/>
      <dgm:t>
        <a:bodyPr/>
        <a:lstStyle/>
        <a:p>
          <a:endParaRPr lang="en-US"/>
        </a:p>
      </dgm:t>
    </dgm:pt>
    <dgm:pt modelId="{5755A34A-195A-4922-8818-BAD33D4A5E08}">
      <dgm:prSet/>
      <dgm:spPr/>
      <dgm:t>
        <a:bodyPr/>
        <a:lstStyle/>
        <a:p>
          <a:r>
            <a:rPr lang="en-US" dirty="0"/>
            <a:t>HARD DISK :250 GB</a:t>
          </a:r>
        </a:p>
      </dgm:t>
    </dgm:pt>
    <dgm:pt modelId="{D395C3A6-9ADB-4060-9615-36C65552B196}" type="parTrans" cxnId="{826182F0-68CE-41C7-9C32-E3B3C3505DDA}">
      <dgm:prSet/>
      <dgm:spPr/>
      <dgm:t>
        <a:bodyPr/>
        <a:lstStyle/>
        <a:p>
          <a:endParaRPr lang="en-US"/>
        </a:p>
      </dgm:t>
    </dgm:pt>
    <dgm:pt modelId="{3D471494-8E42-4140-869C-4858B76A5EA6}" type="sibTrans" cxnId="{826182F0-68CE-41C7-9C32-E3B3C3505DDA}">
      <dgm:prSet/>
      <dgm:spPr/>
      <dgm:t>
        <a:bodyPr/>
        <a:lstStyle/>
        <a:p>
          <a:endParaRPr lang="en-US"/>
        </a:p>
      </dgm:t>
    </dgm:pt>
    <dgm:pt modelId="{5291D93D-310A-4A23-9E46-3315DA9603C4}" type="pres">
      <dgm:prSet presAssocID="{D074C50E-8A19-43BA-B4DC-E6338ED3F987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E3E5F9F-8AD7-41ED-98A1-2DEC9FBE9FDE}" type="pres">
      <dgm:prSet presAssocID="{250D000F-84EC-4D55-B8D4-49C84B723890}" presName="compNode" presStyleCnt="0"/>
      <dgm:spPr/>
    </dgm:pt>
    <dgm:pt modelId="{2D204B21-80B8-47EA-8722-026A503D3B79}" type="pres">
      <dgm:prSet presAssocID="{250D000F-84EC-4D55-B8D4-49C84B723890}" presName="bgRect" presStyleLbl="bgShp" presStyleIdx="0" presStyleCnt="3"/>
      <dgm:spPr/>
    </dgm:pt>
    <dgm:pt modelId="{BF645AE4-EDED-4C6D-A1E1-93638689D667}" type="pres">
      <dgm:prSet presAssocID="{250D000F-84EC-4D55-B8D4-49C84B72389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</dgm:pt>
    <dgm:pt modelId="{3AFD311C-465A-415F-97F7-12949CB2082F}" type="pres">
      <dgm:prSet presAssocID="{250D000F-84EC-4D55-B8D4-49C84B723890}" presName="spaceRect" presStyleCnt="0"/>
      <dgm:spPr/>
    </dgm:pt>
    <dgm:pt modelId="{61F951B3-474D-4DC4-94B5-1E79577415C2}" type="pres">
      <dgm:prSet presAssocID="{250D000F-84EC-4D55-B8D4-49C84B723890}" presName="parTx" presStyleLbl="revTx" presStyleIdx="0" presStyleCnt="3" custScaleX="114944" custLinFactNeighborX="5289" custLinFactNeighborY="-557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399C5A25-9673-4EAB-BB66-2CA712D8DB46}" type="pres">
      <dgm:prSet presAssocID="{F0EAD9E4-980F-4008-B4DB-DCE43D6A069D}" presName="sibTrans" presStyleCnt="0"/>
      <dgm:spPr/>
    </dgm:pt>
    <dgm:pt modelId="{E61A4CA3-4438-4CB4-9153-D887F65D0462}" type="pres">
      <dgm:prSet presAssocID="{B9529048-2D53-4BCD-A25E-BA15C7B08F8C}" presName="compNode" presStyleCnt="0"/>
      <dgm:spPr/>
    </dgm:pt>
    <dgm:pt modelId="{ABE11F40-C2D3-4DCF-96F2-DF21314479B4}" type="pres">
      <dgm:prSet presAssocID="{B9529048-2D53-4BCD-A25E-BA15C7B08F8C}" presName="bgRect" presStyleLbl="bgShp" presStyleIdx="1" presStyleCnt="3" custLinFactNeighborX="285"/>
      <dgm:spPr/>
    </dgm:pt>
    <dgm:pt modelId="{49C0E561-19F1-45D4-B24F-A2D5219CEC27}" type="pres">
      <dgm:prSet presAssocID="{B9529048-2D53-4BCD-A25E-BA15C7B08F8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</dgm:pt>
    <dgm:pt modelId="{06E77AC1-2EDE-49FB-8ECB-BFC17F3A97FB}" type="pres">
      <dgm:prSet presAssocID="{B9529048-2D53-4BCD-A25E-BA15C7B08F8C}" presName="spaceRect" presStyleCnt="0"/>
      <dgm:spPr/>
    </dgm:pt>
    <dgm:pt modelId="{8C2E63CC-5240-4E7D-A190-B6468F9358FA}" type="pres">
      <dgm:prSet presAssocID="{B9529048-2D53-4BCD-A25E-BA15C7B08F8C}" presName="parTx" presStyleLbl="revTx" presStyleIdx="1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34C961CC-E14F-4215-814B-C49A479796E1}" type="pres">
      <dgm:prSet presAssocID="{6C6EBCF9-B634-4650-9B7A-9A0042E1D627}" presName="sibTrans" presStyleCnt="0"/>
      <dgm:spPr/>
    </dgm:pt>
    <dgm:pt modelId="{7E14E1C4-1A96-4244-B4B3-99AA0001571F}" type="pres">
      <dgm:prSet presAssocID="{5755A34A-195A-4922-8818-BAD33D4A5E08}" presName="compNode" presStyleCnt="0"/>
      <dgm:spPr/>
    </dgm:pt>
    <dgm:pt modelId="{310B2547-FA49-4377-8CDF-9D308968FE85}" type="pres">
      <dgm:prSet presAssocID="{5755A34A-195A-4922-8818-BAD33D4A5E08}" presName="bgRect" presStyleLbl="bgShp" presStyleIdx="2" presStyleCnt="3"/>
      <dgm:spPr/>
    </dgm:pt>
    <dgm:pt modelId="{159B1EA5-7770-405C-99BA-5A0632C4D120}" type="pres">
      <dgm:prSet presAssocID="{5755A34A-195A-4922-8818-BAD33D4A5E0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</dgm:pt>
    <dgm:pt modelId="{90A2A334-FC52-41AF-BA71-6160CEBA1C38}" type="pres">
      <dgm:prSet presAssocID="{5755A34A-195A-4922-8818-BAD33D4A5E08}" presName="spaceRect" presStyleCnt="0"/>
      <dgm:spPr/>
    </dgm:pt>
    <dgm:pt modelId="{98289391-E3BF-4A4D-96C0-B6EF7AF18B57}" type="pres">
      <dgm:prSet presAssocID="{5755A34A-195A-4922-8818-BAD33D4A5E08}" presName="parTx" presStyleLbl="revTx" presStyleIdx="2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C6EEDC41-10F7-4773-90C1-FD9E9AB3A01C}" srcId="{D074C50E-8A19-43BA-B4DC-E6338ED3F987}" destId="{B9529048-2D53-4BCD-A25E-BA15C7B08F8C}" srcOrd="1" destOrd="0" parTransId="{36F7C6B0-0001-4D65-80EA-CE511B9B6B0F}" sibTransId="{6C6EBCF9-B634-4650-9B7A-9A0042E1D627}"/>
    <dgm:cxn modelId="{089CB924-98CB-4427-8653-A131B39FB779}" type="presOf" srcId="{5755A34A-195A-4922-8818-BAD33D4A5E08}" destId="{98289391-E3BF-4A4D-96C0-B6EF7AF18B57}" srcOrd="0" destOrd="0" presId="urn:microsoft.com/office/officeart/2018/2/layout/IconVerticalSolidList"/>
    <dgm:cxn modelId="{0D9899CA-E38A-46AD-AC33-D66A7FDB1998}" type="presOf" srcId="{250D000F-84EC-4D55-B8D4-49C84B723890}" destId="{61F951B3-474D-4DC4-94B5-1E79577415C2}" srcOrd="0" destOrd="0" presId="urn:microsoft.com/office/officeart/2018/2/layout/IconVerticalSolidList"/>
    <dgm:cxn modelId="{716EDD05-C854-474F-80ED-8FC719B10D2B}" type="presOf" srcId="{B9529048-2D53-4BCD-A25E-BA15C7B08F8C}" destId="{8C2E63CC-5240-4E7D-A190-B6468F9358FA}" srcOrd="0" destOrd="0" presId="urn:microsoft.com/office/officeart/2018/2/layout/IconVerticalSolidList"/>
    <dgm:cxn modelId="{AB7F3FD2-27C9-4AE8-9201-A93573BDC8AC}" srcId="{D074C50E-8A19-43BA-B4DC-E6338ED3F987}" destId="{250D000F-84EC-4D55-B8D4-49C84B723890}" srcOrd="0" destOrd="0" parTransId="{796C32FA-B0D4-4B1C-85DD-F3B0EAE909CC}" sibTransId="{F0EAD9E4-980F-4008-B4DB-DCE43D6A069D}"/>
    <dgm:cxn modelId="{57463271-327C-43C2-88F9-A9E800EEA513}" type="presOf" srcId="{D074C50E-8A19-43BA-B4DC-E6338ED3F987}" destId="{5291D93D-310A-4A23-9E46-3315DA9603C4}" srcOrd="0" destOrd="0" presId="urn:microsoft.com/office/officeart/2018/2/layout/IconVerticalSolidList"/>
    <dgm:cxn modelId="{826182F0-68CE-41C7-9C32-E3B3C3505DDA}" srcId="{D074C50E-8A19-43BA-B4DC-E6338ED3F987}" destId="{5755A34A-195A-4922-8818-BAD33D4A5E08}" srcOrd="2" destOrd="0" parTransId="{D395C3A6-9ADB-4060-9615-36C65552B196}" sibTransId="{3D471494-8E42-4140-869C-4858B76A5EA6}"/>
    <dgm:cxn modelId="{723E1213-D082-4C08-87B5-0EA08174D662}" type="presParOf" srcId="{5291D93D-310A-4A23-9E46-3315DA9603C4}" destId="{BE3E5F9F-8AD7-41ED-98A1-2DEC9FBE9FDE}" srcOrd="0" destOrd="0" presId="urn:microsoft.com/office/officeart/2018/2/layout/IconVerticalSolidList"/>
    <dgm:cxn modelId="{B5161D0D-FA4F-41DA-9BB2-8367C254C475}" type="presParOf" srcId="{BE3E5F9F-8AD7-41ED-98A1-2DEC9FBE9FDE}" destId="{2D204B21-80B8-47EA-8722-026A503D3B79}" srcOrd="0" destOrd="0" presId="urn:microsoft.com/office/officeart/2018/2/layout/IconVerticalSolidList"/>
    <dgm:cxn modelId="{DBF39B6F-4183-4404-960B-A01CCDDF202B}" type="presParOf" srcId="{BE3E5F9F-8AD7-41ED-98A1-2DEC9FBE9FDE}" destId="{BF645AE4-EDED-4C6D-A1E1-93638689D667}" srcOrd="1" destOrd="0" presId="urn:microsoft.com/office/officeart/2018/2/layout/IconVerticalSolidList"/>
    <dgm:cxn modelId="{EC60ABAC-D8AD-477F-A1CB-A754689DE546}" type="presParOf" srcId="{BE3E5F9F-8AD7-41ED-98A1-2DEC9FBE9FDE}" destId="{3AFD311C-465A-415F-97F7-12949CB2082F}" srcOrd="2" destOrd="0" presId="urn:microsoft.com/office/officeart/2018/2/layout/IconVerticalSolidList"/>
    <dgm:cxn modelId="{74771D09-CBC1-476A-BFC6-856728A24C70}" type="presParOf" srcId="{BE3E5F9F-8AD7-41ED-98A1-2DEC9FBE9FDE}" destId="{61F951B3-474D-4DC4-94B5-1E79577415C2}" srcOrd="3" destOrd="0" presId="urn:microsoft.com/office/officeart/2018/2/layout/IconVerticalSolidList"/>
    <dgm:cxn modelId="{F37AF5CA-075E-4C29-A83E-62C16BEEEE54}" type="presParOf" srcId="{5291D93D-310A-4A23-9E46-3315DA9603C4}" destId="{399C5A25-9673-4EAB-BB66-2CA712D8DB46}" srcOrd="1" destOrd="0" presId="urn:microsoft.com/office/officeart/2018/2/layout/IconVerticalSolidList"/>
    <dgm:cxn modelId="{C2E1894E-8100-4E48-B113-5E319215B7A9}" type="presParOf" srcId="{5291D93D-310A-4A23-9E46-3315DA9603C4}" destId="{E61A4CA3-4438-4CB4-9153-D887F65D0462}" srcOrd="2" destOrd="0" presId="urn:microsoft.com/office/officeart/2018/2/layout/IconVerticalSolidList"/>
    <dgm:cxn modelId="{5C5493C2-5834-499C-93D6-79A55C953C56}" type="presParOf" srcId="{E61A4CA3-4438-4CB4-9153-D887F65D0462}" destId="{ABE11F40-C2D3-4DCF-96F2-DF21314479B4}" srcOrd="0" destOrd="0" presId="urn:microsoft.com/office/officeart/2018/2/layout/IconVerticalSolidList"/>
    <dgm:cxn modelId="{DCDE63E4-7C8F-4C94-AC05-7CF81DBDC822}" type="presParOf" srcId="{E61A4CA3-4438-4CB4-9153-D887F65D0462}" destId="{49C0E561-19F1-45D4-B24F-A2D5219CEC27}" srcOrd="1" destOrd="0" presId="urn:microsoft.com/office/officeart/2018/2/layout/IconVerticalSolidList"/>
    <dgm:cxn modelId="{7FF77E58-D5D1-420D-99FA-6A74111AF6C9}" type="presParOf" srcId="{E61A4CA3-4438-4CB4-9153-D887F65D0462}" destId="{06E77AC1-2EDE-49FB-8ECB-BFC17F3A97FB}" srcOrd="2" destOrd="0" presId="urn:microsoft.com/office/officeart/2018/2/layout/IconVerticalSolidList"/>
    <dgm:cxn modelId="{9F539092-4EE3-4E3B-830F-6B6AC4A2424E}" type="presParOf" srcId="{E61A4CA3-4438-4CB4-9153-D887F65D0462}" destId="{8C2E63CC-5240-4E7D-A190-B6468F9358FA}" srcOrd="3" destOrd="0" presId="urn:microsoft.com/office/officeart/2018/2/layout/IconVerticalSolidList"/>
    <dgm:cxn modelId="{4331ACC5-BD6E-42BC-A340-8F4A849615D0}" type="presParOf" srcId="{5291D93D-310A-4A23-9E46-3315DA9603C4}" destId="{34C961CC-E14F-4215-814B-C49A479796E1}" srcOrd="3" destOrd="0" presId="urn:microsoft.com/office/officeart/2018/2/layout/IconVerticalSolidList"/>
    <dgm:cxn modelId="{0F0AAFD8-A550-433C-95DE-FF95874B4A8C}" type="presParOf" srcId="{5291D93D-310A-4A23-9E46-3315DA9603C4}" destId="{7E14E1C4-1A96-4244-B4B3-99AA0001571F}" srcOrd="4" destOrd="0" presId="urn:microsoft.com/office/officeart/2018/2/layout/IconVerticalSolidList"/>
    <dgm:cxn modelId="{F762B57D-4182-47B7-9A2C-6E12D41E9476}" type="presParOf" srcId="{7E14E1C4-1A96-4244-B4B3-99AA0001571F}" destId="{310B2547-FA49-4377-8CDF-9D308968FE85}" srcOrd="0" destOrd="0" presId="urn:microsoft.com/office/officeart/2018/2/layout/IconVerticalSolidList"/>
    <dgm:cxn modelId="{F35E4D6C-B503-4F23-A937-D4639E98AE73}" type="presParOf" srcId="{7E14E1C4-1A96-4244-B4B3-99AA0001571F}" destId="{159B1EA5-7770-405C-99BA-5A0632C4D120}" srcOrd="1" destOrd="0" presId="urn:microsoft.com/office/officeart/2018/2/layout/IconVerticalSolidList"/>
    <dgm:cxn modelId="{A6F6E12F-4484-4BF8-8665-415B83197FB1}" type="presParOf" srcId="{7E14E1C4-1A96-4244-B4B3-99AA0001571F}" destId="{90A2A334-FC52-41AF-BA71-6160CEBA1C38}" srcOrd="2" destOrd="0" presId="urn:microsoft.com/office/officeart/2018/2/layout/IconVerticalSolidList"/>
    <dgm:cxn modelId="{8DE9B7A5-EE2D-4B52-9D4B-4A69967B8E7B}" type="presParOf" srcId="{7E14E1C4-1A96-4244-B4B3-99AA0001571F}" destId="{98289391-E3BF-4A4D-96C0-B6EF7AF18B5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xmlns="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7322058" cy="3051810"/>
        <a:chOff x="0" y="0"/>
        <a:chExt cx="7322058" cy="3051810"/>
      </a:xfrm>
    </dsp:grpSpPr>
    <dsp:sp modelId="{BC9CFD48-D278-4904-9093-D561596E7E7E}">
      <dsp:nvSpPr>
        <dsp:cNvPr id="3" name="Round Diagonal Corner Rectangle 2"/>
        <dsp:cNvSpPr/>
      </dsp:nvSpPr>
      <dsp:spPr bwMode="white">
        <a:xfrm>
          <a:off x="727627" y="-1118063"/>
          <a:ext cx="2006209" cy="2006209"/>
        </a:xfrm>
        <a:prstGeom prst="round2DiagRect">
          <a:avLst>
            <a:gd name="adj1" fmla="val 29727"/>
            <a:gd name="adj2" fmla="val 0"/>
          </a:avLst>
        </a:prstGeom>
      </dsp:spPr>
      <dsp:style>
        <a:lnRef idx="0">
          <a:schemeClr val="lt1">
            <a:alpha val="0"/>
          </a:schemeClr>
        </a:lnRef>
        <a:fillRef idx="1">
          <a:schemeClr val="accent2"/>
        </a:fillRef>
        <a:effectRef idx="0">
          <a:scrgbClr r="0" g="0" b="0"/>
        </a:effectRef>
        <a:fontRef idx="minor"/>
      </dsp:style>
      <dsp:txXfrm>
        <a:off x="727627" y="-1118063"/>
        <a:ext cx="2006209" cy="2006209"/>
      </dsp:txXfrm>
    </dsp:sp>
    <dsp:sp modelId="{1B685855-B49A-4D8A-B609-19910342D0A2}">
      <dsp:nvSpPr>
        <dsp:cNvPr id="4" name="Rectangles 3"/>
        <dsp:cNvSpPr/>
      </dsp:nvSpPr>
      <dsp:spPr bwMode="white">
        <a:xfrm>
          <a:off x="1155179" y="-690510"/>
          <a:ext cx="1151104" cy="1151104"/>
        </a:xfrm>
        <a:prstGeom prst="rect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bg1"/>
        </a:fillRef>
        <a:effectRef idx="0">
          <a:scrgbClr r="0" g="0" b="0"/>
        </a:effectRef>
        <a:fontRef idx="minor">
          <a:schemeClr val="lt1"/>
        </a:fontRef>
      </dsp:style>
      <dsp:txXfrm>
        <a:off x="1155179" y="-690510"/>
        <a:ext cx="1151104" cy="1151104"/>
      </dsp:txXfrm>
    </dsp:sp>
    <dsp:sp modelId="{7C1E7789-71B5-47E2-BB3D-5F5C821BEAD7}">
      <dsp:nvSpPr>
        <dsp:cNvPr id="5" name="Rectangles 4"/>
        <dsp:cNvSpPr/>
      </dsp:nvSpPr>
      <dsp:spPr bwMode="white">
        <a:xfrm>
          <a:off x="86298" y="1513031"/>
          <a:ext cx="3288867" cy="72000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t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</a:rPr>
            <a:t>BACK END: PYTHON</a:t>
          </a:r>
          <a:endParaRPr>
            <a:solidFill>
              <a:schemeClr val="tx1"/>
            </a:solidFill>
          </a:endParaRPr>
        </a:p>
      </dsp:txBody>
      <dsp:txXfrm>
        <a:off x="86298" y="1513031"/>
        <a:ext cx="3288867" cy="720000"/>
      </dsp:txXfrm>
    </dsp:sp>
    <dsp:sp modelId="{DB6E6FE4-F5B4-4EBF-90DE-B26DE0A6F9DD}">
      <dsp:nvSpPr>
        <dsp:cNvPr id="6" name="Round Diagonal Corner Rectangle 5"/>
        <dsp:cNvSpPr/>
      </dsp:nvSpPr>
      <dsp:spPr bwMode="white">
        <a:xfrm>
          <a:off x="4592046" y="-1118063"/>
          <a:ext cx="2006209" cy="2006209"/>
        </a:xfrm>
        <a:prstGeom prst="round2DiagRect">
          <a:avLst>
            <a:gd name="adj1" fmla="val 29727"/>
            <a:gd name="adj2" fmla="val 0"/>
          </a:avLst>
        </a:prstGeom>
      </dsp:spPr>
      <dsp:style>
        <a:lnRef idx="0">
          <a:schemeClr val="lt1">
            <a:alpha val="0"/>
          </a:schemeClr>
        </a:lnRef>
        <a:fillRef idx="1">
          <a:schemeClr val="accent3"/>
        </a:fillRef>
        <a:effectRef idx="0">
          <a:scrgbClr r="0" g="0" b="0"/>
        </a:effectRef>
        <a:fontRef idx="minor"/>
      </dsp:style>
      <dsp:txXfrm>
        <a:off x="4592046" y="-1118063"/>
        <a:ext cx="2006209" cy="2006209"/>
      </dsp:txXfrm>
    </dsp:sp>
    <dsp:sp modelId="{D880CD30-01B0-4050-B2DE-1AAC74D74C13}">
      <dsp:nvSpPr>
        <dsp:cNvPr id="7" name="Rectangles 6"/>
        <dsp:cNvSpPr/>
      </dsp:nvSpPr>
      <dsp:spPr bwMode="white">
        <a:xfrm>
          <a:off x="5019598" y="-690510"/>
          <a:ext cx="1151104" cy="1151104"/>
        </a:xfrm>
        <a:prstGeom prst="rect">
          <a:avLst/>
        </a:prstGeom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bg1"/>
        </a:fillRef>
        <a:effectRef idx="0">
          <a:scrgbClr r="0" g="0" b="0"/>
        </a:effectRef>
        <a:fontRef idx="minor">
          <a:schemeClr val="lt1"/>
        </a:fontRef>
      </dsp:style>
      <dsp:txXfrm>
        <a:off x="5019598" y="-690510"/>
        <a:ext cx="1151104" cy="1151104"/>
      </dsp:txXfrm>
    </dsp:sp>
    <dsp:sp modelId="{14FB9B71-1EFF-43B9-9C4E-E8A1FDC1EDD2}">
      <dsp:nvSpPr>
        <dsp:cNvPr id="8" name="Rectangles 7"/>
        <dsp:cNvSpPr/>
      </dsp:nvSpPr>
      <dsp:spPr bwMode="white">
        <a:xfrm>
          <a:off x="4033191" y="1513031"/>
          <a:ext cx="3288867" cy="72000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t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</a:rPr>
            <a:t>OPERATING </a:t>
          </a:r>
          <a:r>
            <a:rPr lang="en-US" dirty="0" smtClean="0">
              <a:solidFill>
                <a:schemeClr val="tx1"/>
              </a:solidFill>
            </a:rPr>
            <a:t>SYSTEM:</a:t>
          </a:r>
          <a:r>
            <a:rPr lang="en-US" dirty="0">
              <a:solidFill>
                <a:schemeClr val="tx1"/>
              </a:solidFill>
            </a:rPr>
            <a:t>  </a:t>
          </a:r>
          <a:endParaRPr lang="en-US" dirty="0" smtClean="0">
            <a:solidFill>
              <a:schemeClr val="tx1"/>
            </a:solidFill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solidFill>
                <a:schemeClr val="tx1"/>
              </a:solidFill>
            </a:rPr>
            <a:t>WINDOWS  </a:t>
          </a:r>
          <a:r>
            <a:rPr lang="en-US" dirty="0">
              <a:solidFill>
                <a:schemeClr val="tx1"/>
              </a:solidFill>
            </a:rPr>
            <a:t>7</a:t>
          </a:r>
          <a:endParaRPr>
            <a:solidFill>
              <a:schemeClr val="tx1"/>
            </a:solidFill>
          </a:endParaRPr>
        </a:p>
      </dsp:txBody>
      <dsp:txXfrm>
        <a:off x="4033191" y="1513031"/>
        <a:ext cx="3288867" cy="720000"/>
      </dsp:txXfrm>
    </dsp:sp>
    <dsp:sp modelId="{01602BBC-258C-446F-AA16-488BD0B406A7}">
      <dsp:nvSpPr>
        <dsp:cNvPr id="9" name="Round Diagonal Corner Rectangle 8"/>
        <dsp:cNvSpPr/>
      </dsp:nvSpPr>
      <dsp:spPr bwMode="white">
        <a:xfrm>
          <a:off x="2658803" y="818779"/>
          <a:ext cx="2006209" cy="2006209"/>
        </a:xfrm>
        <a:prstGeom prst="round2DiagRect">
          <a:avLst>
            <a:gd name="adj1" fmla="val 29727"/>
            <a:gd name="adj2" fmla="val 0"/>
          </a:avLst>
        </a:prstGeom>
      </dsp:spPr>
      <dsp:style>
        <a:lnRef idx="0">
          <a:schemeClr val="lt1">
            <a:alpha val="0"/>
          </a:schemeClr>
        </a:lnRef>
        <a:fillRef idx="1">
          <a:schemeClr val="accent4"/>
        </a:fillRef>
        <a:effectRef idx="0">
          <a:scrgbClr r="0" g="0" b="0"/>
        </a:effectRef>
        <a:fontRef idx="minor"/>
      </dsp:style>
      <dsp:txXfrm>
        <a:off x="2658803" y="818779"/>
        <a:ext cx="2006209" cy="2006209"/>
      </dsp:txXfrm>
    </dsp:sp>
    <dsp:sp modelId="{419056A0-094C-4C5A-8518-A861E0291DF6}">
      <dsp:nvSpPr>
        <dsp:cNvPr id="10" name="Rectangles 9"/>
        <dsp:cNvSpPr/>
      </dsp:nvSpPr>
      <dsp:spPr bwMode="white">
        <a:xfrm>
          <a:off x="3086356" y="1246332"/>
          <a:ext cx="1151104" cy="1151104"/>
        </a:xfrm>
        <a:prstGeom prst="rect">
          <a:avLst/>
        </a:prstGeom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bg1"/>
        </a:fillRef>
        <a:effectRef idx="0">
          <a:scrgbClr r="0" g="0" b="0"/>
        </a:effectRef>
        <a:fontRef idx="minor">
          <a:schemeClr val="lt1"/>
        </a:fontRef>
      </dsp:style>
      <dsp:txXfrm>
        <a:off x="3086356" y="1246332"/>
        <a:ext cx="1151104" cy="1151104"/>
      </dsp:txXfrm>
    </dsp:sp>
    <dsp:sp modelId="{E06FACDB-1ADC-415E-89CC-417B0167F934}">
      <dsp:nvSpPr>
        <dsp:cNvPr id="11" name="Rectangles 10"/>
        <dsp:cNvSpPr/>
      </dsp:nvSpPr>
      <dsp:spPr bwMode="white">
        <a:xfrm>
          <a:off x="2017474" y="3449873"/>
          <a:ext cx="3288867" cy="72000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t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</a:rPr>
            <a:t>IDE</a:t>
          </a:r>
          <a:r>
            <a:rPr lang="en-US" dirty="0" smtClean="0">
              <a:solidFill>
                <a:schemeClr val="tx1"/>
              </a:solidFill>
            </a:rPr>
            <a:t>: Spider3</a:t>
          </a:r>
          <a:endParaRPr lang="en-US" dirty="0">
            <a:solidFill>
              <a:schemeClr val="tx1"/>
            </a:solidFill>
          </a:endParaRPr>
        </a:p>
      </dsp:txBody>
      <dsp:txXfrm>
        <a:off x="2017474" y="3449873"/>
        <a:ext cx="3288867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5562600" cy="4339978"/>
        <a:chOff x="0" y="0"/>
        <a:chExt cx="5562600" cy="4339978"/>
      </a:xfrm>
    </dsp:grpSpPr>
    <dsp:sp modelId="{2D204B21-80B8-47EA-8722-026A503D3B79}">
      <dsp:nvSpPr>
        <dsp:cNvPr id="3" name="Rounded Rectangle 2"/>
        <dsp:cNvSpPr/>
      </dsp:nvSpPr>
      <dsp:spPr bwMode="white">
        <a:xfrm>
          <a:off x="0" y="0"/>
          <a:ext cx="5562600" cy="1239994"/>
        </a:xfrm>
        <a:prstGeom prst="roundRect">
          <a:avLst>
            <a:gd name="adj" fmla="val 10000"/>
          </a:avLst>
        </a:prstGeom>
      </dsp:spPr>
      <dsp:style>
        <a:lnRef idx="0">
          <a:schemeClr val="dk1"/>
        </a:lnRef>
        <a:fillRef idx="1">
          <a:schemeClr val="bg1">
            <a:lumMod val="95000"/>
          </a:schemeClr>
        </a:fillRef>
        <a:effectRef idx="0">
          <a:scrgbClr r="0" g="0" b="0"/>
        </a:effectRef>
        <a:fontRef idx="minor"/>
      </dsp:style>
      <dsp:txXfrm>
        <a:off x="0" y="0"/>
        <a:ext cx="5562600" cy="1239994"/>
      </dsp:txXfrm>
    </dsp:sp>
    <dsp:sp modelId="{BF645AE4-EDED-4C6D-A1E1-93638689D667}">
      <dsp:nvSpPr>
        <dsp:cNvPr id="4" name="Rectangles 3"/>
        <dsp:cNvSpPr/>
      </dsp:nvSpPr>
      <dsp:spPr bwMode="white">
        <a:xfrm>
          <a:off x="375098" y="278999"/>
          <a:ext cx="681997" cy="681997"/>
        </a:xfrm>
        <a:prstGeom prst="rect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Xfrm>
        <a:off x="375098" y="278999"/>
        <a:ext cx="681997" cy="681997"/>
      </dsp:txXfrm>
    </dsp:sp>
    <dsp:sp modelId="{61F951B3-474D-4DC4-94B5-1E79577415C2}">
      <dsp:nvSpPr>
        <dsp:cNvPr id="5" name="Rectangles 4"/>
        <dsp:cNvSpPr/>
      </dsp:nvSpPr>
      <dsp:spPr bwMode="white">
        <a:xfrm>
          <a:off x="1432193" y="0"/>
          <a:ext cx="4130407" cy="1239994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31232" tIns="131232" rIns="131232" bIns="131232" anchor="ctr"/>
        <a:lstStyle>
          <a:lvl1pPr algn="l">
            <a:defRPr sz="3800"/>
          </a:lvl1pPr>
          <a:lvl2pPr marL="285750" indent="-285750" algn="l">
            <a:defRPr sz="2900"/>
          </a:lvl2pPr>
          <a:lvl3pPr marL="571500" indent="-285750" algn="l">
            <a:defRPr sz="2900"/>
          </a:lvl3pPr>
          <a:lvl4pPr marL="857250" indent="-285750" algn="l">
            <a:defRPr sz="2900"/>
          </a:lvl4pPr>
          <a:lvl5pPr marL="1143000" indent="-285750" algn="l">
            <a:defRPr sz="2900"/>
          </a:lvl5pPr>
          <a:lvl6pPr marL="1428750" indent="-285750" algn="l">
            <a:defRPr sz="2900"/>
          </a:lvl6pPr>
          <a:lvl7pPr marL="1714500" indent="-285750" algn="l">
            <a:defRPr sz="2900"/>
          </a:lvl7pPr>
          <a:lvl8pPr marL="2000250" indent="-285750" algn="l">
            <a:defRPr sz="2900"/>
          </a:lvl8pPr>
          <a:lvl9pPr marL="2286000" indent="-285750" algn="l">
            <a:defRPr sz="2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500" dirty="0">
              <a:solidFill>
                <a:schemeClr val="tx1"/>
              </a:solidFill>
            </a:rPr>
            <a:t>PROCESSOR:  </a:t>
          </a:r>
          <a:r>
            <a:rPr lang="en-US" sz="2200" dirty="0">
              <a:solidFill>
                <a:schemeClr val="tx1"/>
              </a:solidFill>
            </a:rPr>
            <a:t>Pentium </a:t>
          </a:r>
          <a:r>
            <a:rPr lang="en-US" sz="2200" dirty="0" smtClean="0">
              <a:solidFill>
                <a:schemeClr val="tx1"/>
              </a:solidFill>
            </a:rPr>
            <a:t>i3 Processor</a:t>
          </a:r>
          <a:endParaRPr lang="en-US" sz="2200" dirty="0">
            <a:solidFill>
              <a:schemeClr val="tx1"/>
            </a:solidFill>
          </a:endParaRPr>
        </a:p>
      </dsp:txBody>
      <dsp:txXfrm>
        <a:off x="1432193" y="0"/>
        <a:ext cx="4130407" cy="1239994"/>
      </dsp:txXfrm>
    </dsp:sp>
    <dsp:sp modelId="{ABE11F40-C2D3-4DCF-96F2-DF21314479B4}">
      <dsp:nvSpPr>
        <dsp:cNvPr id="6" name="Rounded Rectangle 5"/>
        <dsp:cNvSpPr/>
      </dsp:nvSpPr>
      <dsp:spPr bwMode="white">
        <a:xfrm>
          <a:off x="0" y="1549992"/>
          <a:ext cx="5562600" cy="1239994"/>
        </a:xfrm>
        <a:prstGeom prst="roundRect">
          <a:avLst>
            <a:gd name="adj" fmla="val 10000"/>
          </a:avLst>
        </a:prstGeom>
      </dsp:spPr>
      <dsp:style>
        <a:lnRef idx="0">
          <a:schemeClr val="dk1"/>
        </a:lnRef>
        <a:fillRef idx="1">
          <a:schemeClr val="bg1">
            <a:lumMod val="95000"/>
          </a:schemeClr>
        </a:fillRef>
        <a:effectRef idx="0">
          <a:scrgbClr r="0" g="0" b="0"/>
        </a:effectRef>
        <a:fontRef idx="minor"/>
      </dsp:style>
      <dsp:txXfrm>
        <a:off x="0" y="1549992"/>
        <a:ext cx="5562600" cy="1239994"/>
      </dsp:txXfrm>
    </dsp:sp>
    <dsp:sp modelId="{49C0E561-19F1-45D4-B24F-A2D5219CEC27}">
      <dsp:nvSpPr>
        <dsp:cNvPr id="7" name="Rectangles 6"/>
        <dsp:cNvSpPr/>
      </dsp:nvSpPr>
      <dsp:spPr bwMode="white">
        <a:xfrm>
          <a:off x="375098" y="1828991"/>
          <a:ext cx="681997" cy="681997"/>
        </a:xfrm>
        <a:prstGeom prst="rect">
          <a:avLst/>
        </a:prstGeom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Xfrm>
        <a:off x="375098" y="1828991"/>
        <a:ext cx="681997" cy="681997"/>
      </dsp:txXfrm>
    </dsp:sp>
    <dsp:sp modelId="{8C2E63CC-5240-4E7D-A190-B6468F9358FA}">
      <dsp:nvSpPr>
        <dsp:cNvPr id="8" name="Rectangles 7"/>
        <dsp:cNvSpPr/>
      </dsp:nvSpPr>
      <dsp:spPr bwMode="white">
        <a:xfrm>
          <a:off x="1432193" y="1549992"/>
          <a:ext cx="4130407" cy="1239994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31232" tIns="131232" rIns="131232" bIns="131232" anchor="ctr"/>
        <a:lstStyle>
          <a:lvl1pPr algn="l">
            <a:defRPr sz="3800"/>
          </a:lvl1pPr>
          <a:lvl2pPr marL="285750" indent="-285750" algn="l">
            <a:defRPr sz="2900"/>
          </a:lvl2pPr>
          <a:lvl3pPr marL="571500" indent="-285750" algn="l">
            <a:defRPr sz="2900"/>
          </a:lvl3pPr>
          <a:lvl4pPr marL="857250" indent="-285750" algn="l">
            <a:defRPr sz="2900"/>
          </a:lvl4pPr>
          <a:lvl5pPr marL="1143000" indent="-285750" algn="l">
            <a:defRPr sz="2900"/>
          </a:lvl5pPr>
          <a:lvl6pPr marL="1428750" indent="-285750" algn="l">
            <a:defRPr sz="2900"/>
          </a:lvl6pPr>
          <a:lvl7pPr marL="1714500" indent="-285750" algn="l">
            <a:defRPr sz="2900"/>
          </a:lvl7pPr>
          <a:lvl8pPr marL="2000250" indent="-285750" algn="l">
            <a:defRPr sz="2900"/>
          </a:lvl8pPr>
          <a:lvl9pPr marL="2286000" indent="-285750" algn="l">
            <a:defRPr sz="2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</a:rPr>
            <a:t>RAM:2GB DD RAM</a:t>
          </a:r>
          <a:endParaRPr>
            <a:solidFill>
              <a:schemeClr val="tx1"/>
            </a:solidFill>
          </a:endParaRPr>
        </a:p>
      </dsp:txBody>
      <dsp:txXfrm>
        <a:off x="1432193" y="1549992"/>
        <a:ext cx="4130407" cy="1239994"/>
      </dsp:txXfrm>
    </dsp:sp>
    <dsp:sp modelId="{310B2547-FA49-4377-8CDF-9D308968FE85}">
      <dsp:nvSpPr>
        <dsp:cNvPr id="9" name="Rounded Rectangle 8"/>
        <dsp:cNvSpPr/>
      </dsp:nvSpPr>
      <dsp:spPr bwMode="white">
        <a:xfrm>
          <a:off x="0" y="3099984"/>
          <a:ext cx="5562600" cy="1239994"/>
        </a:xfrm>
        <a:prstGeom prst="roundRect">
          <a:avLst>
            <a:gd name="adj" fmla="val 10000"/>
          </a:avLst>
        </a:prstGeom>
      </dsp:spPr>
      <dsp:style>
        <a:lnRef idx="0">
          <a:schemeClr val="dk1"/>
        </a:lnRef>
        <a:fillRef idx="1">
          <a:schemeClr val="bg1">
            <a:lumMod val="95000"/>
          </a:schemeClr>
        </a:fillRef>
        <a:effectRef idx="0">
          <a:scrgbClr r="0" g="0" b="0"/>
        </a:effectRef>
        <a:fontRef idx="minor"/>
      </dsp:style>
      <dsp:txXfrm>
        <a:off x="0" y="3099984"/>
        <a:ext cx="5562600" cy="1239994"/>
      </dsp:txXfrm>
    </dsp:sp>
    <dsp:sp modelId="{159B1EA5-7770-405C-99BA-5A0632C4D120}">
      <dsp:nvSpPr>
        <dsp:cNvPr id="10" name="Rectangles 9"/>
        <dsp:cNvSpPr/>
      </dsp:nvSpPr>
      <dsp:spPr bwMode="white">
        <a:xfrm>
          <a:off x="375098" y="3378983"/>
          <a:ext cx="681997" cy="681997"/>
        </a:xfrm>
        <a:prstGeom prst="rect">
          <a:avLst/>
        </a:prstGeom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Xfrm>
        <a:off x="375098" y="3378983"/>
        <a:ext cx="681997" cy="681997"/>
      </dsp:txXfrm>
    </dsp:sp>
    <dsp:sp modelId="{98289391-E3BF-4A4D-96C0-B6EF7AF18B57}">
      <dsp:nvSpPr>
        <dsp:cNvPr id="11" name="Rectangles 10"/>
        <dsp:cNvSpPr/>
      </dsp:nvSpPr>
      <dsp:spPr bwMode="white">
        <a:xfrm>
          <a:off x="1432193" y="3099984"/>
          <a:ext cx="4130407" cy="1239994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31232" tIns="131232" rIns="131232" bIns="131232" anchor="ctr"/>
        <a:lstStyle>
          <a:lvl1pPr algn="l">
            <a:defRPr sz="3800"/>
          </a:lvl1pPr>
          <a:lvl2pPr marL="285750" indent="-285750" algn="l">
            <a:defRPr sz="2900"/>
          </a:lvl2pPr>
          <a:lvl3pPr marL="571500" indent="-285750" algn="l">
            <a:defRPr sz="2900"/>
          </a:lvl3pPr>
          <a:lvl4pPr marL="857250" indent="-285750" algn="l">
            <a:defRPr sz="2900"/>
          </a:lvl4pPr>
          <a:lvl5pPr marL="1143000" indent="-285750" algn="l">
            <a:defRPr sz="2900"/>
          </a:lvl5pPr>
          <a:lvl6pPr marL="1428750" indent="-285750" algn="l">
            <a:defRPr sz="2900"/>
          </a:lvl6pPr>
          <a:lvl7pPr marL="1714500" indent="-285750" algn="l">
            <a:defRPr sz="2900"/>
          </a:lvl7pPr>
          <a:lvl8pPr marL="2000250" indent="-285750" algn="l">
            <a:defRPr sz="2900"/>
          </a:lvl8pPr>
          <a:lvl9pPr marL="2286000" indent="-285750" algn="l">
            <a:defRPr sz="2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</a:rPr>
            <a:t>HARD DISK :250 GB</a:t>
          </a:r>
          <a:endParaRPr>
            <a:solidFill>
              <a:schemeClr val="tx1"/>
            </a:solidFill>
          </a:endParaRPr>
        </a:p>
      </dsp:txBody>
      <dsp:txXfrm>
        <a:off x="1432193" y="3099984"/>
        <a:ext cx="4130407" cy="12399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off" val="ctr"/>
          <dgm:param type="contDir" val="sameDir"/>
          <dgm:param type="grDir" val="tL"/>
          <dgm:param type="flowDir" val="row"/>
          <dgm:param type="horzAlign" val="ctr"/>
          <dgm:param type="vertAlign" val="mid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  <dgm:param type="horzAlign" val="ctr"/>
          <dgm:param type="vertAlign" val="mid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C48640-1727-4D17-8B8B-969F98B8F14A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38490F-8BB6-4DC6-AB4F-6A0D61A18E3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8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7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9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3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3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199765" indent="0">
              <a:buNone/>
              <a:defRPr sz="900"/>
            </a:lvl8pPr>
            <a:lvl9pPr marL="3656965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199765" indent="0">
              <a:buNone/>
              <a:defRPr sz="2000"/>
            </a:lvl8pPr>
            <a:lvl9pPr marL="3656965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199765" indent="0">
              <a:buNone/>
              <a:defRPr sz="900"/>
            </a:lvl8pPr>
            <a:lvl9pPr marL="3656965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30" tIns="45715" rIns="91430" bIns="45715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3"/>
            <a:ext cx="8229600" cy="3394472"/>
          </a:xfrm>
          <a:prstGeom prst="rect">
            <a:avLst/>
          </a:prstGeom>
        </p:spPr>
        <p:txBody>
          <a:bodyPr vert="horz" lIns="91430" tIns="45715" rIns="91430" bIns="45715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30" tIns="45715" rIns="91430" bIns="45715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30" tIns="45715" rIns="91430" bIns="45715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30" tIns="45715" rIns="91430" bIns="45715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>
            <a:spLocks noGrp="1"/>
          </p:cNvSpPr>
          <p:nvPr>
            <p:ph type="ctrTitle"/>
          </p:nvPr>
        </p:nvSpPr>
        <p:spPr>
          <a:xfrm>
            <a:off x="457200" y="209550"/>
            <a:ext cx="8320564" cy="1508760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Oriented Mini Project Presentation 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Crime Pattern Detection, Analysis &amp; Prediction Through Machine Learning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37" y="2190751"/>
            <a:ext cx="9131141" cy="1569650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MIRZA YASSER ALI BAIG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21WJ1A6642)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SYED AFFAN AHMED (21WJ1A6653)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MOHAMMED SHAHNAWAZ (22WJ5A6603)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14" y="3714751"/>
            <a:ext cx="9131141" cy="1384984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Esteemed Guidance of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S. Madhu (Professor &amp; HOD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CSE(AIML))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Guru Nanak Institutions Technical Campus (Autonomous)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4540" r="29625"/>
          <a:stretch>
            <a:fillRect/>
          </a:stretch>
        </p:blipFill>
        <p:spPr>
          <a:xfrm>
            <a:off x="3962401" y="1581150"/>
            <a:ext cx="1066800" cy="7186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91" y="798672"/>
            <a:ext cx="7651909" cy="383047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entagon 3"/>
          <p:cNvSpPr/>
          <p:nvPr/>
        </p:nvSpPr>
        <p:spPr>
          <a:xfrm>
            <a:off x="10957" y="-3808"/>
            <a:ext cx="5422583" cy="752951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en-US">
              <a:highlight>
                <a:srgbClr val="FF0000"/>
              </a:highlight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174307" y="80963"/>
            <a:ext cx="5780723" cy="668655"/>
          </a:xfrm>
          <a:prstGeom prst="rect">
            <a:avLst/>
          </a:prstGeom>
        </p:spPr>
        <p:txBody>
          <a:bodyPr vert="horz" lIns="91430" tIns="45715" rIns="91430" bIns="45715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Presentation:-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28700"/>
            <a:ext cx="8686800" cy="371189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The project aims to analyze crime patterns, predict dangerous hotspots, and assist in enhancing public safety.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Data is sourced from the Toronto Police Service's Public Safety Portal, including columns like occurrence date, type of offense, and neighborhood.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Visualization, clustering, and time-series forecasting.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models such as Random Forest.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using K-Means and PCA for better accuracy and performance.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Helps authorities focus on high-risk areas, enables better resource planning, and raises public awareness of safety.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10956" y="-4761"/>
            <a:ext cx="2351244" cy="671512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76200" y="0"/>
            <a:ext cx="2407920" cy="646321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entagon 5"/>
          <p:cNvSpPr/>
          <p:nvPr/>
        </p:nvSpPr>
        <p:spPr>
          <a:xfrm>
            <a:off x="10954" y="-4762"/>
            <a:ext cx="3580924" cy="648653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93823" y="800103"/>
            <a:ext cx="8956358" cy="39923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Crime Prediction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Crimes affect societal quality of life and economic growth.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Crime analysis helps in deciding which neighborhoods to avoid or monitor.</a:t>
            </a:r>
          </a:p>
          <a:p>
            <a:pPr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 of Technology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AI/ML algorithms eliminate human errors and improve identification and prediction accuracy.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policing schedules officers based on crime predictions.</a:t>
            </a:r>
          </a:p>
          <a:p>
            <a:pPr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high-crime neighborhoods and times.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 public knowledge about safety.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automation to simplify analysis, freeing up resources for innovation.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0"/>
            <a:ext cx="8785860" cy="4114800"/>
          </a:xfrm>
        </p:spPr>
        <p:txBody>
          <a:bodyPr anchor="b">
            <a:no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Crime Data Visualization and Forecasting Analysis with Big Data Technology</a:t>
            </a:r>
          </a:p>
          <a:p>
            <a:pPr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Mingchen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 al.</a:t>
            </a:r>
          </a:p>
          <a:p>
            <a:pPr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Applied to forecast and predict crime trends.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Techniques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Improve understanding of past crime data for better future predictions.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Models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Prophet and LSTM models achieved superior performance in predicting crime trends.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Aid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Visualized trends assist law enforcement in strategic planning and decision-making.</a:t>
            </a:r>
          </a:p>
          <a:p>
            <a:pPr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Pentagon 5"/>
          <p:cNvSpPr/>
          <p:nvPr/>
        </p:nvSpPr>
        <p:spPr>
          <a:xfrm>
            <a:off x="10957" y="-4762"/>
            <a:ext cx="4871561" cy="802005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LITERATURE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SURVEY-I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85860" cy="3051810"/>
          </a:xfrm>
        </p:spPr>
        <p:txBody>
          <a:bodyPr anchor="b">
            <a:no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Spatiotemporal Crime Forecasting Using STL</a:t>
            </a:r>
          </a:p>
          <a:p>
            <a:pPr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Abish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Malik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 al.</a:t>
            </a:r>
          </a:p>
          <a:p>
            <a:pPr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with STL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Utilizes Seasonal Trend Decomposition using Loss (STL) for crime data analysis.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Crime Prediction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Provides predicted levels of future crime while analyzing past data to reduce crime rates.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Investigative Application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Useful for crime bureau and investigative sectors.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Spatiotemporal Analysis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Highlights its importance in understanding and predicting crime patterns.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Pentagon 5"/>
          <p:cNvSpPr/>
          <p:nvPr/>
        </p:nvSpPr>
        <p:spPr>
          <a:xfrm>
            <a:off x="10957" y="-4762"/>
            <a:ext cx="4871561" cy="802005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LITERATURE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SURVEY-II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62050"/>
            <a:ext cx="8785860" cy="3771900"/>
          </a:xfrm>
        </p:spPr>
        <p:txBody>
          <a:bodyPr anchor="b">
            <a:no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Crime Data Analysis and Visualization Techniques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Safiya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Mohd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Hithasri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Muthyala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with SARIMA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Applies the SARIMA algorithm to analyze seasonal and trend components in crime data.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Tools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Utilizes heat maps and trend lines for effective crime data representation.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Crime Reduction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Aims to aid law enforcement in analyzing past incidents to mitigate future crimes.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Normalization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Highlights its importance in enhancing model performance and reducing computational complexity.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Pentagon 5"/>
          <p:cNvSpPr/>
          <p:nvPr/>
        </p:nvSpPr>
        <p:spPr>
          <a:xfrm>
            <a:off x="10957" y="-4761"/>
            <a:ext cx="4408643" cy="671512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LITERATURE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SURVEY-III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3" y="914401"/>
            <a:ext cx="8729187" cy="363447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Crime Analysis Systems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reactive rather than preventive policing.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Lack tools for predicting crime locations or times.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static historical data, ignoring dynamic factors like urban growth.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are often inaccurate due to outdated or manual methods.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and error-prone processes require significant time and manpower.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 visualization hampers understanding of crime patterns and resource deployment.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Pentagon 5"/>
          <p:cNvSpPr/>
          <p:nvPr/>
        </p:nvSpPr>
        <p:spPr>
          <a:xfrm>
            <a:off x="10957" y="-4762"/>
            <a:ext cx="3570443" cy="618649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2" y="742950"/>
            <a:ext cx="8719185" cy="3314700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the Proposed System</a:t>
            </a: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AI/ML Algorithms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Analyze and predict crime patterns with high accuracy.</a:t>
            </a: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Automates data processing, minimizing manual effort and errors.</a:t>
            </a: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Policing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Identifies crime-prone areas, times, and types to prevent crimes effectively.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Techniques Used</a:t>
            </a: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and Visualization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Detects crime hotspots and patterns.</a:t>
            </a: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Forecasting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Uses ARIMA and SARIMA models to predict temporal crime trends.</a:t>
            </a: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Models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Predicts crime categories with models like Random Forest.</a:t>
            </a:r>
          </a:p>
        </p:txBody>
      </p:sp>
      <p:sp>
        <p:nvSpPr>
          <p:cNvPr id="6" name="Pentagon 5"/>
          <p:cNvSpPr/>
          <p:nvPr/>
        </p:nvSpPr>
        <p:spPr>
          <a:xfrm>
            <a:off x="10956" y="-4762"/>
            <a:ext cx="3570444" cy="618173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2" y="514350"/>
            <a:ext cx="8719185" cy="3314700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the Proposed System</a:t>
            </a: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Law Enforcement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Enables efficient deployment of resources in high-risk areas.</a:t>
            </a: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Awareness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Provides actionable insights for individuals to ensure their safety.</a:t>
            </a: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Decision-Making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Assists authorities in planning preventive measures.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Advantages</a:t>
            </a: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PCA Integration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Improves clustering efficiency and processing speed.</a:t>
            </a: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Interface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Facilitates easy access to safety insights for both public and law enforcement.</a:t>
            </a: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 Reduction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AI-driven analysis eliminates human errors in crime prediction.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Pentagon 5"/>
          <p:cNvSpPr/>
          <p:nvPr/>
        </p:nvSpPr>
        <p:spPr>
          <a:xfrm>
            <a:off x="10956" y="-4761"/>
            <a:ext cx="3722844" cy="519112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136144" y="411481"/>
            <a:ext cx="6871716" cy="84919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</p:txBody>
      </p:sp>
      <p:graphicFrame>
        <p:nvGraphicFramePr>
          <p:cNvPr id="6" name="Content Placeholder"/>
          <p:cNvGraphicFramePr>
            <a:graphicFrameLocks noGrp="1"/>
          </p:cNvGraphicFramePr>
          <p:nvPr>
            <p:ph idx="1"/>
          </p:nvPr>
        </p:nvGraphicFramePr>
        <p:xfrm>
          <a:off x="685800" y="1529334"/>
          <a:ext cx="7322058" cy="3051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76200" y="438150"/>
            <a:ext cx="2971800" cy="4339979"/>
          </a:xfrm>
        </p:spPr>
        <p:txBody>
          <a:bodyPr anchor="t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graphicFrame>
        <p:nvGraphicFramePr>
          <p:cNvPr id="6" name="Content Placeholder"/>
          <p:cNvGraphicFramePr>
            <a:graphicFrameLocks noGrp="1"/>
          </p:cNvGraphicFramePr>
          <p:nvPr>
            <p:ph idx="1"/>
          </p:nvPr>
        </p:nvGraphicFramePr>
        <p:xfrm>
          <a:off x="3352800" y="438150"/>
          <a:ext cx="5562600" cy="43399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entagon 4"/>
          <p:cNvSpPr/>
          <p:nvPr/>
        </p:nvSpPr>
        <p:spPr>
          <a:xfrm>
            <a:off x="10954" y="-4762"/>
            <a:ext cx="4960144" cy="567214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666750"/>
            <a:ext cx="7500079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entagon 4"/>
          <p:cNvSpPr/>
          <p:nvPr/>
        </p:nvSpPr>
        <p:spPr>
          <a:xfrm>
            <a:off x="10954" y="-4762"/>
            <a:ext cx="3418046" cy="567214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MODULES NAMES: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I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gathering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Classification / Clustering</a:t>
            </a:r>
            <a:endParaRPr lang="en-I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I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Prediction/ forecasting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  <a:p>
            <a:pPr lvl="0">
              <a:buNone/>
            </a:pPr>
            <a:endParaRPr lang="en-I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entagon 4"/>
          <p:cNvSpPr/>
          <p:nvPr/>
        </p:nvSpPr>
        <p:spPr>
          <a:xfrm>
            <a:off x="10954" y="-4762"/>
            <a:ext cx="3418046" cy="519112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400" y="552453"/>
            <a:ext cx="8534400" cy="438149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MODULES EXPLANATION </a:t>
            </a:r>
          </a:p>
          <a:p>
            <a:pPr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Data Gathering</a:t>
            </a:r>
          </a:p>
          <a:p>
            <a:pPr lvl="1"/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 structured datasets from verified sources like government crime records or public datasets.</a:t>
            </a:r>
          </a:p>
          <a:p>
            <a:pPr lvl="1"/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includes cleaning, handling missing values, and normalizing the data for consistency.</a:t>
            </a:r>
          </a:p>
          <a:p>
            <a:pPr lvl="1"/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 Python libraries like Pandas, </a:t>
            </a:r>
            <a:r>
              <a:rPr lang="en-US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(for image-based crime records).</a:t>
            </a:r>
          </a:p>
          <a:p>
            <a:pPr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Classification/Clustering</a:t>
            </a:r>
          </a:p>
          <a:p>
            <a:pPr lvl="1"/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Use </a:t>
            </a:r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spatial crime hotspots by grouping similar areas based on crime frequency and type.</a:t>
            </a:r>
          </a:p>
          <a:p>
            <a:pPr lvl="1"/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Apply </a:t>
            </a:r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classifiers to categorize crimes into pre-defined types like theft, assault, etc.</a:t>
            </a:r>
          </a:p>
          <a:p>
            <a:pPr lvl="1"/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ensures relevant variables (e.g., location, time, and offense type) are considered.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entagon 4"/>
          <p:cNvSpPr/>
          <p:nvPr/>
        </p:nvSpPr>
        <p:spPr>
          <a:xfrm>
            <a:off x="10954" y="-4762"/>
            <a:ext cx="3494246" cy="519112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400" y="514350"/>
            <a:ext cx="8839200" cy="339447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MODULES EXPLANATION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Prediction/Forecasting</a:t>
            </a:r>
          </a:p>
          <a:p>
            <a:pPr lvl="1"/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Analysis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Use models like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ARIMA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AutoRegressive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Integrated Moving Average) or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SARIMA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(Seasonal ARIMA) to predict crime trends over time.</a:t>
            </a:r>
          </a:p>
          <a:p>
            <a:pPr lvl="1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seasonal patterns (e.g., increased theft during holidays) and temporal crime spikes.</a:t>
            </a:r>
          </a:p>
          <a:p>
            <a:pPr lvl="1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weather, demographic, and economic data for higher accuracy.</a:t>
            </a:r>
          </a:p>
          <a:p>
            <a:pPr>
              <a:buNone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Exploratory Data Analysis</a:t>
            </a:r>
          </a:p>
          <a:p>
            <a:pPr lvl="1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outcomes of clustering and forecasting into an actionable prediction model.</a:t>
            </a:r>
          </a:p>
          <a:p>
            <a:pPr lvl="1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visualizations like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heatmaps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bar charts, and temporal graphs to represent crime trends effectively.</a:t>
            </a:r>
          </a:p>
          <a:p>
            <a:pPr lvl="1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Employ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models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recommendations (e.g., deploying police resources).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entagon 4"/>
          <p:cNvSpPr/>
          <p:nvPr/>
        </p:nvSpPr>
        <p:spPr>
          <a:xfrm>
            <a:off x="10954" y="-4762"/>
            <a:ext cx="2808446" cy="519112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628653"/>
            <a:ext cx="8229600" cy="339447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TECHNIQUE:</a:t>
            </a:r>
          </a:p>
          <a:p>
            <a:pPr>
              <a:buNone/>
            </a:pPr>
            <a:endParaRPr lang="en-US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Traditional Statistical Methods</a:t>
            </a:r>
          </a:p>
          <a:p>
            <a:pPr>
              <a:buNone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Rely on historical crime data to identify patterns and trends.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</a:p>
          <a:p>
            <a:pPr lvl="1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Analytics (mean, median, mode of crime rates)</a:t>
            </a:r>
          </a:p>
          <a:p>
            <a:pPr>
              <a:buNone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predictive capabilities.</a:t>
            </a:r>
          </a:p>
          <a:p>
            <a:pPr lvl="1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Unable to handle large datasets efficiently.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entagon 4"/>
          <p:cNvSpPr/>
          <p:nvPr/>
        </p:nvSpPr>
        <p:spPr>
          <a:xfrm>
            <a:off x="10954" y="-4762"/>
            <a:ext cx="2656046" cy="519112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590550"/>
            <a:ext cx="8229600" cy="339447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TECHNIQUE:</a:t>
            </a:r>
          </a:p>
          <a:p>
            <a:pPr>
              <a:buNone/>
            </a:pPr>
            <a:endParaRPr lang="en-US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Manual Crime Mapping</a:t>
            </a:r>
          </a:p>
          <a:p>
            <a:pPr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 representation of crime data using tools like GIS (Geographic Information Systems).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Mapping crime hotspots based on historical data.</a:t>
            </a:r>
          </a:p>
          <a:p>
            <a:pPr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Time-intensive and prone to human error.</a:t>
            </a:r>
          </a:p>
          <a:p>
            <a:pPr lvl="1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updating capabilities.</a:t>
            </a:r>
          </a:p>
          <a:p>
            <a:pPr>
              <a:buNone/>
            </a:pP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entagon 4"/>
          <p:cNvSpPr/>
          <p:nvPr/>
        </p:nvSpPr>
        <p:spPr>
          <a:xfrm>
            <a:off x="10954" y="-4762"/>
            <a:ext cx="2808446" cy="519112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666750"/>
            <a:ext cx="8763000" cy="4124196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r>
              <a:rPr lang="en-IN" altLang="en-US" b="1" dirty="0" smtClean="0">
                <a:sym typeface="+mn-ea"/>
              </a:rPr>
              <a:t>PROPOSED TECHNIQUE :</a:t>
            </a:r>
            <a:endParaRPr lang="en-IN" altLang="en-US" sz="1600" b="1" dirty="0" smtClean="0">
              <a:sym typeface="+mn-ea"/>
            </a:endParaRPr>
          </a:p>
          <a:p>
            <a:pPr>
              <a:buNone/>
            </a:pPr>
            <a:r>
              <a:rPr lang="en-US" b="1" dirty="0" smtClean="0"/>
              <a:t>1. K-Means Clustering</a:t>
            </a:r>
          </a:p>
          <a:p>
            <a:pPr>
              <a:buNone/>
            </a:pPr>
            <a:r>
              <a:rPr lang="en-US" sz="1600" b="1" dirty="0" smtClean="0"/>
              <a:t>Purpose</a:t>
            </a:r>
            <a:r>
              <a:rPr lang="en-US" sz="1600" dirty="0" smtClean="0"/>
              <a:t>: To identify spatial crime hotspots by clustering crime data based on geographic coordinates.</a:t>
            </a:r>
          </a:p>
          <a:p>
            <a:pPr>
              <a:buNone/>
            </a:pPr>
            <a:r>
              <a:rPr lang="en-US" sz="1600" b="1" dirty="0" smtClean="0"/>
              <a:t>How It Works</a:t>
            </a:r>
            <a:r>
              <a:rPr lang="en-US" sz="1600" dirty="0" smtClean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smtClean="0"/>
              <a:t>Partitions the data into a predefined number of clusters (e.g., 3 clusters).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smtClean="0"/>
              <a:t>Assigns each data point to the nearest cluster center (</a:t>
            </a:r>
            <a:r>
              <a:rPr lang="en-US" sz="1600" dirty="0" err="1" smtClean="0"/>
              <a:t>centroid</a:t>
            </a:r>
            <a:r>
              <a:rPr lang="en-US" sz="1600" dirty="0" smtClean="0"/>
              <a:t>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smtClean="0"/>
              <a:t>Iteratively updates the </a:t>
            </a:r>
            <a:r>
              <a:rPr lang="en-US" sz="1600" dirty="0" err="1" smtClean="0"/>
              <a:t>centroids</a:t>
            </a:r>
            <a:r>
              <a:rPr lang="en-US" sz="1600" dirty="0" smtClean="0"/>
              <a:t> to minimize the variance within clusters.</a:t>
            </a:r>
          </a:p>
          <a:p>
            <a:pPr>
              <a:buNone/>
            </a:pPr>
            <a:r>
              <a:rPr lang="en-US" sz="1600" b="1" dirty="0" smtClean="0"/>
              <a:t>Use Case in Your Project</a:t>
            </a:r>
            <a:r>
              <a:rPr lang="en-US" sz="1600" dirty="0" smtClean="0"/>
              <a:t>: Clustering crimes based on latitude and longitude to identify high-crime areas.</a:t>
            </a:r>
          </a:p>
          <a:p>
            <a:pPr>
              <a:buNone/>
            </a:pPr>
            <a:endParaRPr lang="en-US" sz="1600" dirty="0" smtClean="0"/>
          </a:p>
          <a:p>
            <a:pPr>
              <a:buNone/>
            </a:pPr>
            <a:r>
              <a:rPr lang="en-US" b="1" dirty="0" smtClean="0"/>
              <a:t>2. Principal Component Analysis (PCA)</a:t>
            </a:r>
          </a:p>
          <a:p>
            <a:pPr>
              <a:buNone/>
            </a:pPr>
            <a:r>
              <a:rPr lang="en-US" sz="1600" b="1" dirty="0" smtClean="0"/>
              <a:t>Purpose</a:t>
            </a:r>
            <a:r>
              <a:rPr lang="en-US" sz="1600" dirty="0" smtClean="0"/>
              <a:t>: To reduce the dimensionality of the data while retaining as much variability as possible.</a:t>
            </a:r>
          </a:p>
          <a:p>
            <a:pPr>
              <a:buNone/>
            </a:pPr>
            <a:r>
              <a:rPr lang="en-US" sz="1600" b="1" dirty="0" smtClean="0"/>
              <a:t>How It Works</a:t>
            </a:r>
            <a:r>
              <a:rPr lang="en-US" sz="1600" dirty="0" smtClean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smtClean="0"/>
              <a:t>Converts correlated features into a set of linearly uncorrelated components.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smtClean="0"/>
              <a:t>Orders components by the amount of variance they capture.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smtClean="0"/>
              <a:t>Selects the top components to represent the dataset in fewer dimensions.</a:t>
            </a:r>
          </a:p>
          <a:p>
            <a:pPr>
              <a:buNone/>
            </a:pPr>
            <a:r>
              <a:rPr lang="en-US" sz="1600" b="1" dirty="0" smtClean="0"/>
              <a:t>Use Case in Your Project</a:t>
            </a:r>
            <a:r>
              <a:rPr lang="en-US" sz="1600" dirty="0" smtClean="0"/>
              <a:t>: Reduces the complexity of spatial data for clustering visualization.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entagon 4"/>
          <p:cNvSpPr/>
          <p:nvPr/>
        </p:nvSpPr>
        <p:spPr>
          <a:xfrm>
            <a:off x="10954" y="-4762"/>
            <a:ext cx="2732246" cy="519112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648424"/>
            <a:ext cx="8763000" cy="5047526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r>
              <a:rPr lang="en-IN" altLang="en-US" b="1" dirty="0" smtClean="0">
                <a:sym typeface="+mn-ea"/>
              </a:rPr>
              <a:t>PROPOSED TECHNIQUE :</a:t>
            </a:r>
          </a:p>
          <a:p>
            <a:endParaRPr lang="en-US" sz="1600" b="1" dirty="0" smtClean="0"/>
          </a:p>
          <a:p>
            <a:r>
              <a:rPr lang="en-US" b="1" dirty="0" smtClean="0"/>
              <a:t>3. ARIMA (</a:t>
            </a:r>
            <a:r>
              <a:rPr lang="en-US" b="1" dirty="0" err="1" smtClean="0"/>
              <a:t>AutoRegressive</a:t>
            </a:r>
            <a:r>
              <a:rPr lang="en-US" b="1" dirty="0" smtClean="0"/>
              <a:t> Integrated Moving Average)</a:t>
            </a:r>
          </a:p>
          <a:p>
            <a:r>
              <a:rPr lang="en-US" sz="1600" b="1" dirty="0" smtClean="0"/>
              <a:t>Purpose</a:t>
            </a:r>
            <a:r>
              <a:rPr lang="en-US" sz="1600" dirty="0" smtClean="0"/>
              <a:t>: To forecast crime trends over time using time series data.</a:t>
            </a:r>
          </a:p>
          <a:p>
            <a:r>
              <a:rPr lang="en-US" sz="1600" b="1" dirty="0" smtClean="0"/>
              <a:t>How It Works</a:t>
            </a:r>
            <a:r>
              <a:rPr lang="en-US" sz="1600" dirty="0" smtClean="0"/>
              <a:t>:</a:t>
            </a:r>
          </a:p>
          <a:p>
            <a:pPr lvl="1"/>
            <a:r>
              <a:rPr lang="en-US" sz="1600" b="1" dirty="0" err="1" smtClean="0"/>
              <a:t>AutoRegressive</a:t>
            </a:r>
            <a:r>
              <a:rPr lang="en-US" sz="1600" b="1" dirty="0" smtClean="0"/>
              <a:t> (AR)</a:t>
            </a:r>
            <a:r>
              <a:rPr lang="en-US" sz="1600" dirty="0" smtClean="0"/>
              <a:t>: Models the relationship between a variable and its past values.</a:t>
            </a:r>
          </a:p>
          <a:p>
            <a:pPr lvl="1"/>
            <a:r>
              <a:rPr lang="en-US" sz="1600" b="1" dirty="0" smtClean="0"/>
              <a:t>Integrated (I)</a:t>
            </a:r>
            <a:r>
              <a:rPr lang="en-US" sz="1600" dirty="0" smtClean="0"/>
              <a:t>: Differencing the data to make it stationary (removing trends).</a:t>
            </a:r>
          </a:p>
          <a:p>
            <a:pPr lvl="1"/>
            <a:r>
              <a:rPr lang="en-US" sz="1600" b="1" dirty="0" smtClean="0"/>
              <a:t>Moving Average (MA)</a:t>
            </a:r>
            <a:r>
              <a:rPr lang="en-US" sz="1600" dirty="0" smtClean="0"/>
              <a:t>: Models the relationship between a variable and past errors.</a:t>
            </a:r>
          </a:p>
          <a:p>
            <a:r>
              <a:rPr lang="en-US" sz="1600" b="1" dirty="0" smtClean="0"/>
              <a:t>Use Case in Your Project</a:t>
            </a:r>
            <a:r>
              <a:rPr lang="en-US" sz="1600" dirty="0" smtClean="0"/>
              <a:t>: Predicting future crime counts based on historical data.</a:t>
            </a:r>
          </a:p>
          <a:p>
            <a:endParaRPr lang="en-US" sz="1600" b="1" dirty="0" smtClean="0"/>
          </a:p>
          <a:p>
            <a:r>
              <a:rPr lang="en-US" b="1" dirty="0" smtClean="0"/>
              <a:t>4. SARIMA (Seasonal ARIMA)</a:t>
            </a:r>
          </a:p>
          <a:p>
            <a:r>
              <a:rPr lang="en-US" sz="1600" b="1" dirty="0" smtClean="0"/>
              <a:t>Purpose</a:t>
            </a:r>
            <a:r>
              <a:rPr lang="en-US" sz="1600" dirty="0" smtClean="0"/>
              <a:t>: An extension of ARIMA that accounts for seasonality in the data.</a:t>
            </a:r>
          </a:p>
          <a:p>
            <a:r>
              <a:rPr lang="en-US" sz="1600" b="1" dirty="0" smtClean="0"/>
              <a:t>How It Works</a:t>
            </a:r>
            <a:r>
              <a:rPr lang="en-US" sz="1600" dirty="0" smtClean="0"/>
              <a:t>:</a:t>
            </a:r>
          </a:p>
          <a:p>
            <a:pPr lvl="1"/>
            <a:r>
              <a:rPr lang="en-US" sz="1600" dirty="0" smtClean="0"/>
              <a:t>Incorporates seasonal terms in the ARIMA model to handle patterns repeating over time (e.g., monthly trends).</a:t>
            </a:r>
          </a:p>
          <a:p>
            <a:r>
              <a:rPr lang="en-US" sz="1600" b="1" dirty="0" smtClean="0"/>
              <a:t>Use Case in Your Project</a:t>
            </a:r>
            <a:r>
              <a:rPr lang="en-US" sz="1600" dirty="0" smtClean="0"/>
              <a:t>: Captures seasonal crime trends, such as increased crimes during holidays or specific months.</a:t>
            </a:r>
          </a:p>
          <a:p>
            <a:endParaRPr lang="en-US" sz="1400" dirty="0" smtClean="0"/>
          </a:p>
          <a:p>
            <a:endParaRPr lang="en-IN" altLang="en-US" sz="1600" b="1" dirty="0" smtClean="0">
              <a:sym typeface="+mn-ea"/>
            </a:endParaRPr>
          </a:p>
          <a:p>
            <a:endParaRPr lang="en-IN" altLang="en-US" sz="1400" b="1" dirty="0" smtClean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entagon 4"/>
          <p:cNvSpPr/>
          <p:nvPr/>
        </p:nvSpPr>
        <p:spPr>
          <a:xfrm>
            <a:off x="10954" y="-4762"/>
            <a:ext cx="4027646" cy="519112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l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2819400" y="971550"/>
            <a:ext cx="3733800" cy="3543300"/>
            <a:chOff x="457200" y="1524000"/>
            <a:chExt cx="3124200" cy="4191000"/>
          </a:xfrm>
        </p:grpSpPr>
        <p:sp>
          <p:nvSpPr>
            <p:cNvPr id="7" name="Rectangle 6"/>
            <p:cNvSpPr/>
            <p:nvPr/>
          </p:nvSpPr>
          <p:spPr>
            <a:xfrm>
              <a:off x="457200" y="1524000"/>
              <a:ext cx="3124200" cy="533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smtClean="0"/>
                <a:t>Data Collection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57200" y="2438400"/>
              <a:ext cx="3124200" cy="533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smtClean="0"/>
                <a:t>Data Pre-processing</a:t>
              </a:r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57200" y="3352800"/>
              <a:ext cx="3124200" cy="533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smtClean="0"/>
                <a:t>Model Training and Evaluation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57200" y="4267200"/>
              <a:ext cx="3124200" cy="533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smtClean="0"/>
                <a:t>Clustering (Hotspot)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57200" y="5181600"/>
              <a:ext cx="3124200" cy="533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smtClean="0"/>
                <a:t>Exploratory Data Analysis (EDA)</a:t>
              </a:r>
              <a:endParaRPr lang="en-US" dirty="0"/>
            </a:p>
          </p:txBody>
        </p:sp>
        <p:sp>
          <p:nvSpPr>
            <p:cNvPr id="13" name="Down Arrow 12"/>
            <p:cNvSpPr/>
            <p:nvPr/>
          </p:nvSpPr>
          <p:spPr>
            <a:xfrm>
              <a:off x="1752600" y="2057400"/>
              <a:ext cx="381000" cy="3810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Down Arrow 14"/>
            <p:cNvSpPr/>
            <p:nvPr/>
          </p:nvSpPr>
          <p:spPr>
            <a:xfrm>
              <a:off x="1752600" y="3886200"/>
              <a:ext cx="381000" cy="3810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Down Arrow 15"/>
            <p:cNvSpPr/>
            <p:nvPr/>
          </p:nvSpPr>
          <p:spPr>
            <a:xfrm>
              <a:off x="1752600" y="2971800"/>
              <a:ext cx="381000" cy="3810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Down Arrow 16"/>
            <p:cNvSpPr/>
            <p:nvPr/>
          </p:nvSpPr>
          <p:spPr>
            <a:xfrm>
              <a:off x="1752600" y="4800600"/>
              <a:ext cx="381000" cy="3810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742950"/>
            <a:ext cx="8382000" cy="4286250"/>
          </a:xfrm>
        </p:spPr>
        <p:txBody>
          <a:bodyPr>
            <a:noAutofit/>
          </a:bodyPr>
          <a:lstStyle/>
          <a:p>
            <a:pPr marL="288290" indent="-288290">
              <a:buNone/>
            </a:pPr>
            <a:r>
              <a:rPr lang="en-IN" altLang="ko-K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: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sourced from the Toronto Police Service - Public Safety Portal.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columns such as occurrence date, month, reporting date, neighborhood, type of offense, and Major Crime Indicators (MCI).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extract meaningful insights for police and public safety.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dangerous neighborhoods requiring more focus from police agencies.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entagon 3"/>
          <p:cNvSpPr/>
          <p:nvPr/>
        </p:nvSpPr>
        <p:spPr>
          <a:xfrm>
            <a:off x="10954" y="-4762"/>
            <a:ext cx="2351246" cy="519112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l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Screenshot 2020-12-02 23.43.38"/>
          <p:cNvPicPr>
            <a:picLocks noChangeAspect="1"/>
          </p:cNvPicPr>
          <p:nvPr/>
        </p:nvPicPr>
        <p:blipFill>
          <a:blip r:embed="rId2"/>
          <a:srcRect l="20641" t="42274" r="50218" b="29258"/>
          <a:stretch>
            <a:fillRect/>
          </a:stretch>
        </p:blipFill>
        <p:spPr>
          <a:xfrm>
            <a:off x="4922312" y="2743200"/>
            <a:ext cx="4221689" cy="1657350"/>
          </a:xfrm>
          <a:prstGeom prst="rect">
            <a:avLst/>
          </a:prstGeom>
        </p:spPr>
      </p:pic>
      <p:pic>
        <p:nvPicPr>
          <p:cNvPr id="4" name="Picture 3" descr="Screenshot 2020-12-02 23.45.57"/>
          <p:cNvPicPr>
            <a:picLocks noChangeAspect="1"/>
          </p:cNvPicPr>
          <p:nvPr/>
        </p:nvPicPr>
        <p:blipFill>
          <a:blip r:embed="rId3"/>
          <a:srcRect l="16016" t="49293" r="20903" b="24893"/>
          <a:stretch>
            <a:fillRect/>
          </a:stretch>
        </p:blipFill>
        <p:spPr>
          <a:xfrm>
            <a:off x="4800603" y="856166"/>
            <a:ext cx="4343401" cy="1486985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28600" y="590550"/>
            <a:ext cx="5029200" cy="42862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Pre-processing: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 and irrelevant columns such as X, Y coordinates,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NeighborhoodID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ReportDayOfWeek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Utilized grouping techniques for data visualization.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Factorized independent and dependent variables for classification.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OneHotEncoder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to X variables for input into the classification model.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Considered crimes after December 2014 due to insufficient data before that period.</a:t>
            </a:r>
          </a:p>
          <a:p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Pentagon 8"/>
          <p:cNvSpPr/>
          <p:nvPr/>
        </p:nvSpPr>
        <p:spPr>
          <a:xfrm>
            <a:off x="10954" y="-4762"/>
            <a:ext cx="2351246" cy="519112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l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creenshot 2020-12-03 01.52.40"/>
          <p:cNvPicPr>
            <a:picLocks noChangeAspect="1"/>
          </p:cNvPicPr>
          <p:nvPr/>
        </p:nvPicPr>
        <p:blipFill>
          <a:blip r:embed="rId2"/>
          <a:srcRect l="22241" t="31975" r="26124" b="15219"/>
          <a:stretch>
            <a:fillRect/>
          </a:stretch>
        </p:blipFill>
        <p:spPr>
          <a:xfrm>
            <a:off x="3810000" y="857250"/>
            <a:ext cx="5334001" cy="3714750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400" y="685800"/>
            <a:ext cx="4191000" cy="42862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modeling used to assign class labels to input data.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Classification algorithm was used in this project.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constructs multiple decision trees during training.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output is based on the mode or mean prediction of individual trees.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an accuracy of 58.38%.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Pentagon 8"/>
          <p:cNvSpPr/>
          <p:nvPr/>
        </p:nvSpPr>
        <p:spPr>
          <a:xfrm>
            <a:off x="10954" y="-4762"/>
            <a:ext cx="2351246" cy="519112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l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creenshot 2020-12-03 09.42.29"/>
          <p:cNvPicPr>
            <a:picLocks noChangeAspect="1"/>
          </p:cNvPicPr>
          <p:nvPr/>
        </p:nvPicPr>
        <p:blipFill>
          <a:blip r:embed="rId2"/>
          <a:srcRect l="27298" t="52121" r="38340" b="7363"/>
          <a:stretch>
            <a:fillRect/>
          </a:stretch>
        </p:blipFill>
        <p:spPr>
          <a:xfrm>
            <a:off x="3962400" y="2724151"/>
            <a:ext cx="5181600" cy="2333288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400" y="514350"/>
            <a:ext cx="4191000" cy="42862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Clustering:</a:t>
            </a:r>
          </a:p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an unsupervised machine learning technique that discovers natural groupings in data.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partition the dataset into k clusters.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K-Means, each observation belongs to the cluster with the nearest mean (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centroid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Applied the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Elbow Method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determine the optimal number of clusters.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Visualized the clustered data and created a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Silhouette Plot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different clusters.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highlights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Crime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Neighbourhoods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using K-Means clustering.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creenshot 2020-12-03 09.38.13"/>
          <p:cNvPicPr>
            <a:picLocks noChangeAspect="1"/>
          </p:cNvPicPr>
          <p:nvPr/>
        </p:nvPicPr>
        <p:blipFill>
          <a:blip r:embed="rId3"/>
          <a:srcRect l="27767" t="62301" r="51547" b="11405"/>
          <a:stretch>
            <a:fillRect/>
          </a:stretch>
        </p:blipFill>
        <p:spPr>
          <a:xfrm>
            <a:off x="5410200" y="171450"/>
            <a:ext cx="3137542" cy="2628900"/>
          </a:xfrm>
          <a:prstGeom prst="rect">
            <a:avLst/>
          </a:prstGeom>
        </p:spPr>
      </p:pic>
      <p:sp>
        <p:nvSpPr>
          <p:cNvPr id="10" name="Pentagon 9"/>
          <p:cNvSpPr/>
          <p:nvPr/>
        </p:nvSpPr>
        <p:spPr>
          <a:xfrm>
            <a:off x="10954" y="-4762"/>
            <a:ext cx="2351246" cy="519112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l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entagon 4"/>
          <p:cNvSpPr/>
          <p:nvPr/>
        </p:nvSpPr>
        <p:spPr>
          <a:xfrm>
            <a:off x="10954" y="-4762"/>
            <a:ext cx="5246846" cy="567214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l"/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97" descr="Screenshot (683)"/>
          <p:cNvPicPr>
            <a:picLocks noGrp="1" noChangeAspect="1"/>
          </p:cNvPicPr>
          <p:nvPr>
            <p:ph idx="1"/>
          </p:nvPr>
        </p:nvPicPr>
        <p:blipFill>
          <a:blip r:embed="rId2"/>
          <a:srcRect l="22061" t="39205" r="33372" b="24085"/>
          <a:stretch>
            <a:fillRect/>
          </a:stretch>
        </p:blipFill>
        <p:spPr>
          <a:xfrm>
            <a:off x="76200" y="685800"/>
            <a:ext cx="4191000" cy="4114800"/>
          </a:xfrm>
          <a:prstGeom prst="rect">
            <a:avLst/>
          </a:prstGeom>
        </p:spPr>
      </p:pic>
      <p:pic>
        <p:nvPicPr>
          <p:cNvPr id="10" name="Picture 108" descr="Screenshot (684)"/>
          <p:cNvPicPr>
            <a:picLocks noChangeAspect="1"/>
          </p:cNvPicPr>
          <p:nvPr/>
        </p:nvPicPr>
        <p:blipFill>
          <a:blip r:embed="rId3"/>
          <a:srcRect l="21756" t="37202" r="11691" b="16615"/>
          <a:stretch>
            <a:fillRect/>
          </a:stretch>
        </p:blipFill>
        <p:spPr>
          <a:xfrm>
            <a:off x="4419600" y="628650"/>
            <a:ext cx="4724400" cy="422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Screenshot (700)"/>
          <p:cNvPicPr>
            <a:picLocks noChangeAspect="1"/>
          </p:cNvPicPr>
          <p:nvPr/>
        </p:nvPicPr>
        <p:blipFill>
          <a:blip r:embed="rId2"/>
          <a:srcRect l="17421" t="26625" r="27660" b="9213"/>
          <a:stretch>
            <a:fillRect/>
          </a:stretch>
        </p:blipFill>
        <p:spPr>
          <a:xfrm>
            <a:off x="0" y="742950"/>
            <a:ext cx="4648199" cy="3886200"/>
          </a:xfrm>
          <a:prstGeom prst="rect">
            <a:avLst/>
          </a:prstGeom>
        </p:spPr>
      </p:pic>
      <p:pic>
        <p:nvPicPr>
          <p:cNvPr id="9" name="Content Placeholder 3" descr="Screenshot 2020-12-03 00.18.31"/>
          <p:cNvPicPr>
            <a:picLocks noChangeAspect="1"/>
          </p:cNvPicPr>
          <p:nvPr/>
        </p:nvPicPr>
        <p:blipFill>
          <a:blip r:embed="rId3"/>
          <a:srcRect l="27701" t="44477" r="23847" b="12841"/>
          <a:stretch>
            <a:fillRect/>
          </a:stretch>
        </p:blipFill>
        <p:spPr>
          <a:xfrm>
            <a:off x="4724400" y="742950"/>
            <a:ext cx="4419601" cy="3886200"/>
          </a:xfrm>
          <a:prstGeom prst="rect">
            <a:avLst/>
          </a:prstGeom>
        </p:spPr>
      </p:pic>
      <p:sp>
        <p:nvSpPr>
          <p:cNvPr id="6" name="Pentagon 5"/>
          <p:cNvSpPr/>
          <p:nvPr/>
        </p:nvSpPr>
        <p:spPr>
          <a:xfrm>
            <a:off x="10954" y="-4762"/>
            <a:ext cx="5246846" cy="567214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l"/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creenshot 2020-12-03 00.01.31"/>
          <p:cNvPicPr>
            <a:picLocks noChangeAspect="1"/>
          </p:cNvPicPr>
          <p:nvPr/>
        </p:nvPicPr>
        <p:blipFill>
          <a:blip r:embed="rId2"/>
          <a:srcRect l="22172" t="43401" r="16824" b="26263"/>
          <a:stretch>
            <a:fillRect/>
          </a:stretch>
        </p:blipFill>
        <p:spPr>
          <a:xfrm>
            <a:off x="228600" y="628650"/>
            <a:ext cx="8495114" cy="2400300"/>
          </a:xfrm>
          <a:prstGeom prst="rect">
            <a:avLst/>
          </a:prstGeom>
        </p:spPr>
      </p:pic>
      <p:pic>
        <p:nvPicPr>
          <p:cNvPr id="8" name="Content Placeholder 3" descr="Screenshot (689)"/>
          <p:cNvPicPr>
            <a:picLocks noGrp="1" noChangeAspect="1"/>
          </p:cNvPicPr>
          <p:nvPr>
            <p:ph idx="1"/>
          </p:nvPr>
        </p:nvPicPr>
        <p:blipFill>
          <a:blip r:embed="rId3"/>
          <a:srcRect l="19422" t="30118" r="10877" b="25959"/>
          <a:stretch>
            <a:fillRect/>
          </a:stretch>
        </p:blipFill>
        <p:spPr>
          <a:xfrm>
            <a:off x="304800" y="3028950"/>
            <a:ext cx="8534400" cy="1959315"/>
          </a:xfrm>
          <a:prstGeom prst="rect">
            <a:avLst/>
          </a:prstGeom>
        </p:spPr>
      </p:pic>
      <p:sp>
        <p:nvSpPr>
          <p:cNvPr id="7" name="Pentagon 6"/>
          <p:cNvSpPr/>
          <p:nvPr/>
        </p:nvSpPr>
        <p:spPr>
          <a:xfrm>
            <a:off x="10954" y="-4762"/>
            <a:ext cx="5246846" cy="567214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l"/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entagon 4"/>
          <p:cNvSpPr/>
          <p:nvPr/>
        </p:nvSpPr>
        <p:spPr>
          <a:xfrm>
            <a:off x="10954" y="-4762"/>
            <a:ext cx="3113246" cy="519112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CRIME MAPPING</a:t>
            </a:r>
          </a:p>
        </p:txBody>
      </p:sp>
      <p:pic>
        <p:nvPicPr>
          <p:cNvPr id="9" name="Content Placeholder 7" descr="Screenshot 2020-12-03 10.11.42"/>
          <p:cNvPicPr>
            <a:picLocks noGrp="1" noChangeAspect="1"/>
          </p:cNvPicPr>
          <p:nvPr>
            <p:ph idx="1"/>
          </p:nvPr>
        </p:nvPicPr>
        <p:blipFill>
          <a:blip r:embed="rId2"/>
          <a:srcRect l="27507" t="30213" r="40756" b="40274"/>
          <a:stretch>
            <a:fillRect/>
          </a:stretch>
        </p:blipFill>
        <p:spPr>
          <a:xfrm>
            <a:off x="76200" y="666750"/>
            <a:ext cx="4495800" cy="2286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28600" y="2857500"/>
            <a:ext cx="3733800" cy="1015653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ctr"/>
            <a:r>
              <a:rPr lang="en-IN" altLang="en-US" sz="2000" dirty="0" smtClean="0"/>
              <a:t>Result after grouping Neighbourhood</a:t>
            </a:r>
          </a:p>
          <a:p>
            <a:pPr algn="ctr"/>
            <a:r>
              <a:rPr lang="en-IN" altLang="en-US" sz="2000" dirty="0" smtClean="0"/>
              <a:t>with MCI</a:t>
            </a:r>
            <a:endParaRPr lang="en-IN" altLang="en-US" sz="2000" dirty="0"/>
          </a:p>
        </p:txBody>
      </p:sp>
      <p:sp>
        <p:nvSpPr>
          <p:cNvPr id="12" name="Rectangle 11"/>
          <p:cNvSpPr/>
          <p:nvPr/>
        </p:nvSpPr>
        <p:spPr>
          <a:xfrm>
            <a:off x="5334000" y="1962150"/>
            <a:ext cx="3432330" cy="400099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ctr"/>
            <a:r>
              <a:rPr lang="en-IN" altLang="en-US" sz="2000" dirty="0" smtClean="0"/>
              <a:t>Places of high-density of crime </a:t>
            </a:r>
            <a:endParaRPr lang="en-IN" altLang="en-US" sz="2000" dirty="0"/>
          </a:p>
        </p:txBody>
      </p:sp>
      <p:pic>
        <p:nvPicPr>
          <p:cNvPr id="11" name="Content Placeholder 7" descr="Screenshot 2020-12-03 10.11.33"/>
          <p:cNvPicPr>
            <a:picLocks noChangeAspect="1"/>
          </p:cNvPicPr>
          <p:nvPr/>
        </p:nvPicPr>
        <p:blipFill>
          <a:blip r:embed="rId3"/>
          <a:srcRect l="28960" t="32613" r="34535" b="13585"/>
          <a:stretch>
            <a:fillRect/>
          </a:stretch>
        </p:blipFill>
        <p:spPr>
          <a:xfrm>
            <a:off x="4572000" y="2419350"/>
            <a:ext cx="4490195" cy="26098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entagon 4"/>
          <p:cNvSpPr/>
          <p:nvPr/>
        </p:nvSpPr>
        <p:spPr>
          <a:xfrm>
            <a:off x="10954" y="-4762"/>
            <a:ext cx="2656046" cy="519112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571501"/>
            <a:ext cx="8534400" cy="3847197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/>
              <a:t>The spatial analysis of crime in Toronto links </a:t>
            </a:r>
            <a:r>
              <a:rPr lang="en-US" sz="2000" dirty="0" err="1" smtClean="0"/>
              <a:t>neighbourhood</a:t>
            </a:r>
            <a:r>
              <a:rPr lang="en-US" sz="2000" dirty="0" smtClean="0"/>
              <a:t> characteristics to higher crime rates.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/>
              <a:t>The analysis shows how certain </a:t>
            </a:r>
            <a:r>
              <a:rPr lang="en-US" sz="2000" dirty="0" err="1" smtClean="0"/>
              <a:t>neighbourhood</a:t>
            </a:r>
            <a:r>
              <a:rPr lang="en-US" sz="2000" dirty="0" smtClean="0"/>
              <a:t> characteristics are linked to higher crime rates.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/>
              <a:t>This study helps in identifying crime hotspots and predicting dangerous areas at specific times and places.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/>
              <a:t>It assists in planning and implementing safety measures to prevent antisocial activities in the community.</a:t>
            </a:r>
          </a:p>
          <a:p>
            <a:endParaRPr lang="en-US" sz="2000" dirty="0" smtClean="0"/>
          </a:p>
          <a:p>
            <a:r>
              <a:rPr lang="en-US" sz="2400" b="1" dirty="0" smtClean="0"/>
              <a:t>Future goals: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smtClean="0"/>
              <a:t>Identify crime perpetrators and understand their motives.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smtClean="0"/>
              <a:t>Predict future crime hotspots in more cities.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1728</Words>
  <Application>WPS Presentation</Application>
  <PresentationFormat>On-screen Show (16:9)</PresentationFormat>
  <Paragraphs>231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An Industry Oriented Mini Project Presentation  On Crime Pattern Detection, Analysis &amp; Prediction Through Machine Learning 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SOFTWARE REQUIREMENTS</vt:lpstr>
      <vt:lpstr>HARDWARE REQUIREMENTS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Industry Oriented Mini Project Presentation  On Crime Pattern Detection, Analysis &amp; Prediction Through Machine Learning</dc:title>
  <dc:creator>srinivas</dc:creator>
  <cp:lastModifiedBy>srinivas</cp:lastModifiedBy>
  <cp:revision>68</cp:revision>
  <dcterms:created xsi:type="dcterms:W3CDTF">2006-08-16T00:00:00Z</dcterms:created>
  <dcterms:modified xsi:type="dcterms:W3CDTF">2025-01-06T17:14:50Z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8FB4E141F2724856AD9EB21AE65D0B1D_12</vt:lpwstr>
  </property>
  <property fmtid="{D5CDD505-2E9C-101B-9397-08002B2CF9AE}" pid="3" name="KSOProductBuildVer">
    <vt:lpwstr>1033-12.2.0.19307</vt:lpwstr>
  </property>
</Properties>
</file>